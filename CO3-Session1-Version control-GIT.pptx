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8" r:id="rId2"/>
    <p:sldId id="328" r:id="rId3"/>
    <p:sldId id="330" r:id="rId4"/>
    <p:sldId id="331" r:id="rId5"/>
    <p:sldId id="332" r:id="rId6"/>
    <p:sldId id="343" r:id="rId7"/>
    <p:sldId id="336" r:id="rId8"/>
    <p:sldId id="334" r:id="rId9"/>
    <p:sldId id="339" r:id="rId10"/>
    <p:sldId id="341" r:id="rId11"/>
    <p:sldId id="342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4" r:id="rId22"/>
    <p:sldId id="353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55" r:id="rId31"/>
    <p:sldId id="27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28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958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6358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9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7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49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441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37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30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111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220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Course Title, Topic Name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BDDA1-7BB7-447A-97DE-AE5425C8F2A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76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8" y="356260"/>
            <a:ext cx="5545776" cy="56840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Branching Strategy, PR Checks</a:t>
            </a:r>
          </a:p>
          <a:p>
            <a:pPr algn="ctr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6108" y="3791480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4D03-84E3-C20F-CFFC-447EA889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6842"/>
            <a:ext cx="9603275" cy="68691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 Version control systems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EEA4-CD16-32D7-F6FE-926F11CC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59" y="1935571"/>
            <a:ext cx="10843774" cy="395193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is a system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changes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file or set of files over time so that specific versions can be recalled later. It is essential in managing project files in software development.</a:t>
            </a:r>
          </a:p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system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DevOps practices, teams can achieve higher efficiency, better collaboration, and more reliable software delivery.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F8EE-F4D2-DCFB-39AB-19CF4507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4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20D6-9AC9-E3E5-6B3A-595537BA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1194892"/>
            <a:ext cx="9603275" cy="60025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BBBA4-572E-1EA3-6951-0501D6AE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033" y="1909146"/>
            <a:ext cx="10849384" cy="3875771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Repository Management: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storing and managing code in a central location, enabling multiple users to collaborate and operate on a project.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Allows developers to create separate line of development, manage changes in isolation and integrate them back to main codebase without conflicts.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Keeps a history of all the changes made to codebase, helping to understand what modifications are done by whom and when they were done.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Branching is why Git is powerful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133E-E725-A79C-8E13-620B7247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3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099CE-D186-B611-A3C1-24DFBF77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DCC966E-EFFE-7443-2B72-48EFDB0B732F}"/>
              </a:ext>
            </a:extLst>
          </p:cNvPr>
          <p:cNvSpPr txBox="1"/>
          <p:nvPr/>
        </p:nvSpPr>
        <p:spPr>
          <a:xfrm>
            <a:off x="1604407" y="812835"/>
            <a:ext cx="9991562" cy="3565079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409575" indent="-397510">
              <a:spcBef>
                <a:spcPts val="6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is a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ﬁles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Revert back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when/if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indent="-397510">
              <a:spcBef>
                <a:spcPts val="6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"remote"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workspaces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775" lvl="1" indent="-367030">
              <a:spcBef>
                <a:spcPts val="600"/>
              </a:spcBef>
              <a:buFont typeface="Tahoma"/>
              <a:buChar char="○"/>
              <a:tabLst>
                <a:tab pos="866775" algn="l"/>
                <a:tab pos="867410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lose/break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sz="1800" spc="-10" dirty="0">
                <a:latin typeface="Roboto"/>
                <a:cs typeface="Roboto"/>
              </a:rPr>
              <a:t>.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8B2C5-4B95-A2F0-76C9-0951ADC82F1C}"/>
              </a:ext>
            </a:extLst>
          </p:cNvPr>
          <p:cNvSpPr txBox="1">
            <a:spLocks/>
          </p:cNvSpPr>
          <p:nvPr/>
        </p:nvSpPr>
        <p:spPr>
          <a:xfrm>
            <a:off x="1490907" y="197027"/>
            <a:ext cx="9603275" cy="6951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Git &amp; GITHUB</a:t>
            </a:r>
            <a:r>
              <a:rPr lang="en-IN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1B570-8646-64BD-AA94-13705696F250}"/>
              </a:ext>
            </a:extLst>
          </p:cNvPr>
          <p:cNvSpPr txBox="1"/>
          <p:nvPr/>
        </p:nvSpPr>
        <p:spPr>
          <a:xfrm>
            <a:off x="420736" y="4524699"/>
            <a:ext cx="1128695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is the tool that tracks changes locally. GitHub is the remote place where we store Git repositories.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system crashes, our code is safe in GitHub. Teams collaborate through GitHub.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4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7D025D-C929-36D3-C74B-CCA3D26A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186B5-6011-E5DB-4AA5-C50777074B42}"/>
              </a:ext>
            </a:extLst>
          </p:cNvPr>
          <p:cNvSpPr txBox="1"/>
          <p:nvPr/>
        </p:nvSpPr>
        <p:spPr>
          <a:xfrm>
            <a:off x="370248" y="71247"/>
            <a:ext cx="11626838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algn="ctr">
              <a:buSzPct val="118181"/>
              <a:tabLst>
                <a:tab pos="440055" algn="l"/>
                <a:tab pos="440690" algn="l"/>
              </a:tabLst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2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works?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a Repository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When you initialize a folder with Git, it becomes a repository. Git logs all changes made to a hidden folder within that repository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Staging Changes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marks modified files as "staged." Staging prepares changes for a snapshot you want to keep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Committing Changes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Once staged changes are satisfactory, you commit them. Git maintains a complete record of each commit</a:t>
            </a:r>
          </a:p>
          <a:p>
            <a:pPr algn="just">
              <a:buFont typeface="+mj-lt"/>
              <a:buAutoNum type="arabicPeriod"/>
            </a:pPr>
            <a:r>
              <a:rPr lang="en-US" sz="23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</a:t>
            </a:r>
            <a:r>
              <a:rPr lang="en-US" sz="23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allows you to create branches to work on different features or fixes independently. Once the work is complete, you can merge these branches back into the main branch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0D051-4C3D-3207-867D-5B26B691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91" b="3270"/>
          <a:stretch>
            <a:fillRect/>
          </a:stretch>
        </p:blipFill>
        <p:spPr>
          <a:xfrm>
            <a:off x="937791" y="3774847"/>
            <a:ext cx="10739536" cy="228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77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3E716F-B661-423F-376B-FD1E2D83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B6807-E8BB-14B2-C32A-10C29908A3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5272" y="63283"/>
            <a:ext cx="9381454" cy="598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5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FC3392-72E9-C3A6-4CF6-3DE8817D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869F-BCCA-F553-F9EA-5979C8748EBA}"/>
              </a:ext>
            </a:extLst>
          </p:cNvPr>
          <p:cNvSpPr txBox="1"/>
          <p:nvPr/>
        </p:nvSpPr>
        <p:spPr>
          <a:xfrm>
            <a:off x="770021" y="618042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	clone	&lt;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701B2-EFE9-8410-0DCF-0C5494DC5D10}"/>
              </a:ext>
            </a:extLst>
          </p:cNvPr>
          <p:cNvSpPr txBox="1"/>
          <p:nvPr/>
        </p:nvSpPr>
        <p:spPr>
          <a:xfrm>
            <a:off x="1857675" y="1283394"/>
            <a:ext cx="7791208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9575" indent="-397510">
              <a:lnSpc>
                <a:spcPct val="100000"/>
              </a:lnSpc>
              <a:spcBef>
                <a:spcPts val="459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indent="-397510">
              <a:lnSpc>
                <a:spcPct val="100000"/>
              </a:lnSpc>
              <a:spcBef>
                <a:spcPts val="359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synced,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44266-6083-C98C-53A8-CF81EBF935C8}"/>
              </a:ext>
            </a:extLst>
          </p:cNvPr>
          <p:cNvSpPr txBox="1"/>
          <p:nvPr/>
        </p:nvSpPr>
        <p:spPr>
          <a:xfrm>
            <a:off x="770021" y="2738706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	add  &lt;filename&gt;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7BED450-4238-A0A5-0B21-7A515FD41F84}"/>
              </a:ext>
            </a:extLst>
          </p:cNvPr>
          <p:cNvSpPr txBox="1"/>
          <p:nvPr/>
        </p:nvSpPr>
        <p:spPr>
          <a:xfrm>
            <a:off x="2040557" y="3200371"/>
            <a:ext cx="9745666" cy="2742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new files and/or folders, they are not tracked by Git unless you ask it to do so</a:t>
            </a:r>
            <a:endParaRPr lang="en-US" sz="2400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US"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-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speciﬁed ﬁle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“tracked”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spc="-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modiﬁed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ﬁle(s)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“staging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area”</a:t>
            </a:r>
            <a:endParaRPr lang="en-IN" sz="2400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575" marR="334010" indent="-397510" algn="just">
              <a:lnSpc>
                <a:spcPct val="150000"/>
              </a:lnSpc>
              <a:spcBef>
                <a:spcPts val="100"/>
              </a:spcBef>
              <a:buFont typeface="Tahoma"/>
              <a:buChar char="●"/>
              <a:tabLst>
                <a:tab pos="409575" algn="l"/>
                <a:tab pos="410209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add .  -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all the untracked files in the list in one go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55B43-EEFA-5204-C13D-F21B54B4EBBE}"/>
              </a:ext>
            </a:extLst>
          </p:cNvPr>
          <p:cNvSpPr txBox="1"/>
          <p:nvPr/>
        </p:nvSpPr>
        <p:spPr>
          <a:xfrm>
            <a:off x="4793381" y="63283"/>
            <a:ext cx="610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commands</a:t>
            </a:r>
          </a:p>
        </p:txBody>
      </p:sp>
    </p:spTree>
    <p:extLst>
      <p:ext uri="{BB962C8B-B14F-4D97-AF65-F5344CB8AC3E}">
        <p14:creationId xmlns:p14="http://schemas.microsoft.com/office/powerpoint/2010/main" val="12251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F618D-BBD0-EEDD-7F4C-6781CFB1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DD445-51A4-DC88-0973-C7D2AB0C6594}"/>
              </a:ext>
            </a:extLst>
          </p:cNvPr>
          <p:cNvSpPr txBox="1"/>
          <p:nvPr/>
        </p:nvSpPr>
        <p:spPr>
          <a:xfrm>
            <a:off x="565217" y="1156254"/>
            <a:ext cx="6102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commit -m "message"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B7BC7-DAAC-32D1-4128-A0FC009AF209}"/>
              </a:ext>
            </a:extLst>
          </p:cNvPr>
          <p:cNvSpPr txBox="1"/>
          <p:nvPr/>
        </p:nvSpPr>
        <p:spPr>
          <a:xfrm>
            <a:off x="1144337" y="1617919"/>
            <a:ext cx="10424159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commit is when you tell git that a change (or addition) you have made is ready to be included in the project.</a:t>
            </a: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"snapshot" of all files currently on the staging area and commits it to git's memory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"snapshot" is captioned with the given message as a brief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for the commit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9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AB26F-CB92-4C4F-6691-64F95E77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DEF8D-7CE8-B7CD-D091-7CEFD1752C00}"/>
              </a:ext>
            </a:extLst>
          </p:cNvPr>
          <p:cNvSpPr txBox="1"/>
          <p:nvPr/>
        </p:nvSpPr>
        <p:spPr>
          <a:xfrm>
            <a:off x="519763" y="132110"/>
            <a:ext cx="114925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status</a:t>
            </a:r>
          </a:p>
          <a:p>
            <a:pPr algn="ctr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useful information about your repository (e.g., current branch, tracked/untracked files, differences between local and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versions)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624FF-54CF-63FB-242F-A09E37A537DC}"/>
              </a:ext>
            </a:extLst>
          </p:cNvPr>
          <p:cNvSpPr txBox="1"/>
          <p:nvPr/>
        </p:nvSpPr>
        <p:spPr>
          <a:xfrm>
            <a:off x="707456" y="1701770"/>
            <a:ext cx="111171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push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Uploads local commits to the remote repository (i.e., from your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to GitHub)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599EF-52BE-3405-DB7D-8C974A6CCD16}"/>
              </a:ext>
            </a:extLst>
          </p:cNvPr>
          <p:cNvSpPr txBox="1"/>
          <p:nvPr/>
        </p:nvSpPr>
        <p:spPr>
          <a:xfrm>
            <a:off x="546323" y="2994431"/>
            <a:ext cx="112783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pull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Downloads remote commits to the local repository (i.e., from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to your computer)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3EEFD-B1D4-2A79-09D2-54DCA5922BB4}"/>
              </a:ext>
            </a:extLst>
          </p:cNvPr>
          <p:cNvSpPr txBox="1"/>
          <p:nvPr/>
        </p:nvSpPr>
        <p:spPr>
          <a:xfrm>
            <a:off x="707456" y="4827451"/>
            <a:ext cx="1091504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log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b="0" i="0" u="none" strike="noStrike" baseline="0" dirty="0">
              <a:latin typeface="Roboto-Regular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history of commits made in the repository from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newest to oldest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7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398256-086D-DB97-E5DA-7EAFEEB0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C92B8-CDF6-BA2E-1CE4-AD26571A7CC1}"/>
              </a:ext>
            </a:extLst>
          </p:cNvPr>
          <p:cNvSpPr txBox="1"/>
          <p:nvPr/>
        </p:nvSpPr>
        <p:spPr>
          <a:xfrm>
            <a:off x="2935707" y="133472"/>
            <a:ext cx="610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baseline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A102-A234-3540-BFD7-184F7FB8C518}"/>
              </a:ext>
            </a:extLst>
          </p:cNvPr>
          <p:cNvSpPr txBox="1"/>
          <p:nvPr/>
        </p:nvSpPr>
        <p:spPr>
          <a:xfrm>
            <a:off x="624037" y="755512"/>
            <a:ext cx="10943924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repository by default has a "master" branch where all your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lives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useful to create separate branches in your repository (to test new features, separate work among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collaborators, etc.)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775BE-4540-ECE7-B622-DFD0F46BCA12}"/>
              </a:ext>
            </a:extLst>
          </p:cNvPr>
          <p:cNvSpPr txBox="1"/>
          <p:nvPr/>
        </p:nvSpPr>
        <p:spPr>
          <a:xfrm>
            <a:off x="433760" y="2314029"/>
            <a:ext cx="1132447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lists all of the branches in your repository, but has 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other variations: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branch &lt;branch&gt;</a:t>
            </a:r>
          </a:p>
          <a:p>
            <a:pPr lvl="3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Creates a new branch with the given name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branch -d &lt;branch&gt;</a:t>
            </a:r>
          </a:p>
          <a:p>
            <a:pPr lvl="3">
              <a:lnSpc>
                <a:spcPct val="150000"/>
              </a:lnSpc>
            </a:pP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Deletes the specified branch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checkout &lt;branch&gt;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from the current branch to the specified branch (must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exist</a:t>
            </a:r>
            <a:r>
              <a:rPr lang="en-IN" b="0" i="0" u="none" strike="noStrike" baseline="0" dirty="0">
                <a:latin typeface="Roboto-Regular"/>
              </a:rPr>
              <a:t>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076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5910F9-A904-0C28-627A-4F23EBD9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2630C-8F07-C449-D73A-9BA93B1BB892}"/>
              </a:ext>
            </a:extLst>
          </p:cNvPr>
          <p:cNvSpPr txBox="1"/>
          <p:nvPr/>
        </p:nvSpPr>
        <p:spPr>
          <a:xfrm>
            <a:off x="625642" y="955927"/>
            <a:ext cx="10674417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&lt;branch&gt;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First creates a new branch with the given name, then switches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merge &lt;branch&gt;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Merges the specified branch to the current branch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is the process of combining changes from one branch into another. To merge changes, switch to the branch you want to merge into and use the `git merge`.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44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45A6C-87E6-021F-2879-7F11B172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3420EC-D710-A7F5-3926-B9A80FA416E7}"/>
              </a:ext>
            </a:extLst>
          </p:cNvPr>
          <p:cNvSpPr txBox="1"/>
          <p:nvPr/>
        </p:nvSpPr>
        <p:spPr>
          <a:xfrm>
            <a:off x="605860" y="260479"/>
            <a:ext cx="11219631" cy="575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branching strategy</a:t>
            </a:r>
          </a:p>
          <a:p>
            <a:pPr algn="ctr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different branching strategies:</a:t>
            </a:r>
            <a:endParaRPr lang="en-IN" sz="2400" b="1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projects with fixed release cycles and multiple releases (e.g., enterprise apps).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Best for continuous delivery environments and small teams working on quick, iterative updates.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GitLab 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good middle ground for teams that need flexibility, such as managing production and staging environments.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Trunk-Based Development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Ideal for teams practicing continuous integration and delivery with frequent releases.</a:t>
            </a:r>
          </a:p>
        </p:txBody>
      </p:sp>
    </p:spTree>
    <p:extLst>
      <p:ext uri="{BB962C8B-B14F-4D97-AF65-F5344CB8AC3E}">
        <p14:creationId xmlns:p14="http://schemas.microsoft.com/office/powerpoint/2010/main" val="126424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C1CEA5-39A1-55C4-A7A4-1EB46EEA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2C6E7-AA13-B46D-CB87-48F13F8B9870}"/>
              </a:ext>
            </a:extLst>
          </p:cNvPr>
          <p:cNvSpPr txBox="1"/>
          <p:nvPr/>
        </p:nvSpPr>
        <p:spPr>
          <a:xfrm>
            <a:off x="400428" y="711815"/>
            <a:ext cx="11629012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Git Flow </a:t>
            </a:r>
            <a:r>
              <a:rPr lang="en-IN" b="1" dirty="0"/>
              <a:t>(For Structured Releases)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Git Flow is one of the most well-known branching strategies and is often used for projects with well-defined release cycles.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</a:p>
          <a:p>
            <a:pPr lvl="1"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Holds the production-ready code.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the latest development changes.</a:t>
            </a:r>
          </a:p>
          <a:p>
            <a:pPr lvl="1"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Feature branches for individual features or tasks.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Release branches for preparing a release.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hotfix/*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Branches to quickly fix production issues.</a:t>
            </a:r>
          </a:p>
          <a:p>
            <a:pPr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3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86E82-B553-D4BF-7F77-A22135FB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C9476-0B43-9E0A-A943-0A816CE15474}"/>
              </a:ext>
            </a:extLst>
          </p:cNvPr>
          <p:cNvSpPr txBox="1"/>
          <p:nvPr/>
        </p:nvSpPr>
        <p:spPr>
          <a:xfrm>
            <a:off x="375920" y="716618"/>
            <a:ext cx="1109472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create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off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work on a new feature.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ready,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is created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finalize new features and perform testing.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critical bugs arise in production,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hotfix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are created from master to address them</a:t>
            </a:r>
          </a:p>
        </p:txBody>
      </p:sp>
    </p:spTree>
    <p:extLst>
      <p:ext uri="{BB962C8B-B14F-4D97-AF65-F5344CB8AC3E}">
        <p14:creationId xmlns:p14="http://schemas.microsoft.com/office/powerpoint/2010/main" val="222508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59251-0313-B0F7-856A-46219928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7727F-3595-2B49-3D88-50EA29E35EF9}"/>
              </a:ext>
            </a:extLst>
          </p:cNvPr>
          <p:cNvSpPr txBox="1"/>
          <p:nvPr/>
        </p:nvSpPr>
        <p:spPr>
          <a:xfrm>
            <a:off x="1286811" y="154197"/>
            <a:ext cx="104293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Workflow for Developing a Feature and Merging It into the Develop Branch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FDF46-D471-5293-3BE7-EBD805C8C38B}"/>
              </a:ext>
            </a:extLst>
          </p:cNvPr>
          <p:cNvSpPr txBox="1"/>
          <p:nvPr/>
        </p:nvSpPr>
        <p:spPr>
          <a:xfrm>
            <a:off x="734886" y="1108304"/>
            <a:ext cx="11258464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to the Develop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 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Feature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feature/new-feature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branch named feature/new-feature from the current branch (develop).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Complete the Feature Development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(Your development work would take place here, but no specific command is needed for this step. It's where you implement your feature.)</a:t>
            </a:r>
          </a:p>
        </p:txBody>
      </p:sp>
    </p:spTree>
    <p:extLst>
      <p:ext uri="{BB962C8B-B14F-4D97-AF65-F5344CB8AC3E}">
        <p14:creationId xmlns:p14="http://schemas.microsoft.com/office/powerpoint/2010/main" val="133296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F5C0F3-2E8D-C36E-D673-6B4346F4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0A81A-170E-9C4E-3A37-FFD090A1DBDD}"/>
              </a:ext>
            </a:extLst>
          </p:cNvPr>
          <p:cNvSpPr txBox="1"/>
          <p:nvPr/>
        </p:nvSpPr>
        <p:spPr>
          <a:xfrm>
            <a:off x="400428" y="816094"/>
            <a:ext cx="112632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Back to the Develop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finishing the feature, you switch back 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to prepare for merging the changes.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Feature Branch into Develop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merge feature/new-feature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merges the changes from the feature/new-feature branch into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54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7E7B4-32B2-F987-DCBB-4FB3C591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DC7BF-E6ED-7B3A-DE9B-3B6A81152994}"/>
              </a:ext>
            </a:extLst>
          </p:cNvPr>
          <p:cNvSpPr txBox="1"/>
          <p:nvPr/>
        </p:nvSpPr>
        <p:spPr>
          <a:xfrm>
            <a:off x="492759" y="768544"/>
            <a:ext cx="1120648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GitHub Flow </a:t>
            </a:r>
            <a:r>
              <a:rPr lang="en-IN" b="1" dirty="0"/>
              <a:t>(Recommended for Modern Teams) 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GitHub Flow is a simpler workflow than Git Flow, designed for continuous deployment (CD) environments where features are deployed as soon as they are merged.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Production-ready code.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Temporary branches for individual features or fixes.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off main to work on a feature.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completed, they create a pull request (PR) to merge the feature branch into main.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runs tests and if everything is fine, the PR is merged, and the feature is deployed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08764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2D44B4-3001-1AF8-2F24-5A8607CA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9000C-09A3-C59A-7300-747D35C360F0}"/>
              </a:ext>
            </a:extLst>
          </p:cNvPr>
          <p:cNvSpPr txBox="1"/>
          <p:nvPr/>
        </p:nvSpPr>
        <p:spPr>
          <a:xfrm>
            <a:off x="549762" y="657275"/>
            <a:ext cx="11269303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workflow for developing a feature in a separate branch and merging it into the main branch using a pull request on GitHub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to the Main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main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and Switch to a New Feature Branch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checkout -b feature/awesome-feature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Push the Feature Branch to the Remote Repository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push origin feature/awesome-feature</a:t>
            </a:r>
          </a:p>
        </p:txBody>
      </p:sp>
    </p:spTree>
    <p:extLst>
      <p:ext uri="{BB962C8B-B14F-4D97-AF65-F5344CB8AC3E}">
        <p14:creationId xmlns:p14="http://schemas.microsoft.com/office/powerpoint/2010/main" val="3026333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F61963-9E6D-6AB1-EEBE-B9EA07B3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99BCD-AE66-F93A-7260-E0B77A4AC820}"/>
              </a:ext>
            </a:extLst>
          </p:cNvPr>
          <p:cNvSpPr txBox="1"/>
          <p:nvPr/>
        </p:nvSpPr>
        <p:spPr>
          <a:xfrm>
            <a:off x="471224" y="723037"/>
            <a:ext cx="1100084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a Pull Request (PR) on GitHub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not a Git command, but a GitHub action: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pushing the branch, go to GitHub (or your Git hosting platform) and create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(PR)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merge your changes into main. This allows team members to review the changes before merging.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Merge the Feature Branch into Main</a:t>
            </a:r>
          </a:p>
          <a:p>
            <a:pPr algn="just">
              <a:lnSpc>
                <a:spcPct val="15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GitHub or your Git platform interface: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PR is reviewed and approved, merge the feature branch (feature/awesome-feature) into main, incorporating the changes into the stable production code.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42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30A75-D798-545B-A9B6-7B9794D7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0CB97-A73B-B14D-9238-4D7625F06370}"/>
              </a:ext>
            </a:extLst>
          </p:cNvPr>
          <p:cNvSpPr txBox="1"/>
          <p:nvPr/>
        </p:nvSpPr>
        <p:spPr>
          <a:xfrm>
            <a:off x="325120" y="671681"/>
            <a:ext cx="1121664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Trunk-Based Development (TBD) :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Trunk-Based Development (TBD), developers work with a single main branch (called "trunk" or main) and frequently merge changes into it. This approach emphasizes continuous integration, and all work is integrated frequently.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Always holds the latest code.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(short-lived branches): Temporary feature branches used for a few days.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Example: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work in short-lived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feature/*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branches or directly on main.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tools run tests on each commit.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integrate their changes into main at least once a day.</a:t>
            </a:r>
          </a:p>
        </p:txBody>
      </p:sp>
    </p:spTree>
    <p:extLst>
      <p:ext uri="{BB962C8B-B14F-4D97-AF65-F5344CB8AC3E}">
        <p14:creationId xmlns:p14="http://schemas.microsoft.com/office/powerpoint/2010/main" val="4270888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752585-865E-8E0B-89FF-86458420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46B0F-DFB3-BB5A-8C0C-09E37CFA8CEC}"/>
              </a:ext>
            </a:extLst>
          </p:cNvPr>
          <p:cNvSpPr txBox="1"/>
          <p:nvPr/>
        </p:nvSpPr>
        <p:spPr>
          <a:xfrm>
            <a:off x="3172460" y="2685534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Pull Request (PR) checks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92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322E7-4176-84AF-8315-C0913C3B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2D8EB-4D51-2D0A-5974-791A7685A39B}"/>
              </a:ext>
            </a:extLst>
          </p:cNvPr>
          <p:cNvSpPr txBox="1"/>
          <p:nvPr/>
        </p:nvSpPr>
        <p:spPr>
          <a:xfrm>
            <a:off x="762935" y="997565"/>
            <a:ext cx="10925961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checks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your code is high quality, bug-free, secure, and meets the project's standards.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checks are mostly automated and Common PR checks are as below: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(manual).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(CI checks).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linting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(style and formatting checks).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checks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(ensuring the code can be compiled).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scanning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(checking for vulnerabilities).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checks help teams maintain the quality and security of the codebase and prevent breaking the main branch.</a:t>
            </a:r>
          </a:p>
        </p:txBody>
      </p:sp>
    </p:spTree>
    <p:extLst>
      <p:ext uri="{BB962C8B-B14F-4D97-AF65-F5344CB8AC3E}">
        <p14:creationId xmlns:p14="http://schemas.microsoft.com/office/powerpoint/2010/main" val="2981118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CFFD8B-1F14-4BBF-2125-C48BCC25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8801D-00E5-5BE2-C0E2-1739C31353A9}"/>
              </a:ext>
            </a:extLst>
          </p:cNvPr>
          <p:cNvSpPr txBox="1"/>
          <p:nvPr/>
        </p:nvSpPr>
        <p:spPr>
          <a:xfrm>
            <a:off x="353285" y="684032"/>
            <a:ext cx="11610955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Code Review (Manual Check)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team member (or multiple people) reviews the code to ensure it follows best practices, is well-structured, and doesn't introduce bugs or security issues.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submitting a PR, reviewers go through the changes, leave comments, and approve or suggest changes.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feature that adds a login form.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team member reviews the code, checks if the logic is correct, asks for comments on some functions, and suggests renaming a variable for clarity.</a:t>
            </a:r>
          </a:p>
        </p:txBody>
      </p:sp>
    </p:spTree>
    <p:extLst>
      <p:ext uri="{BB962C8B-B14F-4D97-AF65-F5344CB8AC3E}">
        <p14:creationId xmlns:p14="http://schemas.microsoft.com/office/powerpoint/2010/main" val="3535529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2B0FE-89CF-BAC9-CEE8-9C4602C2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C2D96-7DC1-B349-473E-AF1085B9FEC9}"/>
              </a:ext>
            </a:extLst>
          </p:cNvPr>
          <p:cNvSpPr txBox="1"/>
          <p:nvPr/>
        </p:nvSpPr>
        <p:spPr>
          <a:xfrm>
            <a:off x="369432" y="751344"/>
            <a:ext cx="112231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Continuous Integration (CI) Tests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Travis 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run tests to ensure your code works as expected and doesn't break existing functionality. These tests can include unit tests, integration tests, and linting checks.</a:t>
            </a:r>
          </a:p>
          <a:p>
            <a:pPr marL="800100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you create a PR, the CI tool runs the automated tests defined for the repository. If any test fails, the PR will be marked with a failed check, and you must fix the issue before merging.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add a new function to validate email addresses.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 runs unit tests to ensure that the email validation function works as expected (e.g., handling valid and invalid email formats).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tests pass, the PR shows a "green checkmark." If they fail, the PR shows a "red X" and you’ll need to fix the test failures.</a:t>
            </a:r>
          </a:p>
        </p:txBody>
      </p:sp>
    </p:spTree>
    <p:extLst>
      <p:ext uri="{BB962C8B-B14F-4D97-AF65-F5344CB8AC3E}">
        <p14:creationId xmlns:p14="http://schemas.microsoft.com/office/powerpoint/2010/main" val="1849540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B77E9E-4445-E7AA-DB00-8DF2F6A2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CA6E1-03D9-7C95-6838-A36D74A2F2E9}"/>
              </a:ext>
            </a:extLst>
          </p:cNvPr>
          <p:cNvSpPr txBox="1"/>
          <p:nvPr/>
        </p:nvSpPr>
        <p:spPr>
          <a:xfrm>
            <a:off x="471032" y="782455"/>
            <a:ext cx="1118248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Code Linting (Static Analysis)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Prettier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analyze your code for style issues and potential errors, such as missing semicolons, improper indentation, or unused variables.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Linting tools are often configured to run automatically during a PR. If your code doesn’t meet the style rules defined for the project, the PR will show a linting error.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submit a PR where you forgot to add a semicolon at the end of a line of JavaScript code.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linting check will highlight this as a style issue, and you’ll need to fix it before merging.</a:t>
            </a:r>
          </a:p>
        </p:txBody>
      </p:sp>
    </p:spTree>
    <p:extLst>
      <p:ext uri="{BB962C8B-B14F-4D97-AF65-F5344CB8AC3E}">
        <p14:creationId xmlns:p14="http://schemas.microsoft.com/office/powerpoint/2010/main" val="21613711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9AE39B-8243-0031-C58F-94795F2D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26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F74D6-FCC2-9E1D-BAAA-2E43A0BFDDB2}"/>
              </a:ext>
            </a:extLst>
          </p:cNvPr>
          <p:cNvSpPr txBox="1"/>
          <p:nvPr/>
        </p:nvSpPr>
        <p:spPr>
          <a:xfrm>
            <a:off x="398165" y="831562"/>
            <a:ext cx="1133663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Build Status (Build Check)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check ensures that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successful after your changes are merged. A failing build means the code cannot be compiled or packaged into a usable product.</a:t>
            </a:r>
          </a:p>
          <a:p>
            <a:pPr marL="800100" lvl="1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CI pipeline typically includes a build step that compiles the project. If the build fails (for example, due to missing dependencies or broken code), the PR will not be merged.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make a change 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in a Node.js project, but you accidentally remove a required dependency.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build step will fail because the necessary dependency isn’t installed, and the PR won’t merge until you fix the issue.</a:t>
            </a:r>
          </a:p>
        </p:txBody>
      </p:sp>
    </p:spTree>
    <p:extLst>
      <p:ext uri="{BB962C8B-B14F-4D97-AF65-F5344CB8AC3E}">
        <p14:creationId xmlns:p14="http://schemas.microsoft.com/office/powerpoint/2010/main" val="311228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0383E5-36E0-ACC3-9344-2C129DDE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BE270-57CE-6335-85B0-82FB885B2E9A}"/>
              </a:ext>
            </a:extLst>
          </p:cNvPr>
          <p:cNvSpPr txBox="1"/>
          <p:nvPr/>
        </p:nvSpPr>
        <p:spPr>
          <a:xfrm>
            <a:off x="491352" y="887795"/>
            <a:ext cx="10948808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Security Scanning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use automated tools (like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Dependabot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Snyk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GitHub’s secret scanning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scan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code.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checks for things like insecure dependencies, exposed API keys, or known security vulnerabilities in your code. If it detects any issues, it flags them as a security risk.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accidentally add a private API key to your codebase in the PR.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check flags the PR because it detects a secret key, and you'll need to remove it or replace it with a secure method (like environment variables).</a:t>
            </a:r>
          </a:p>
        </p:txBody>
      </p:sp>
    </p:spTree>
    <p:extLst>
      <p:ext uri="{BB962C8B-B14F-4D97-AF65-F5344CB8AC3E}">
        <p14:creationId xmlns:p14="http://schemas.microsoft.com/office/powerpoint/2010/main" val="227429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A9A22-D7B8-7551-C131-9AD3C2B7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EACF6-346D-4C28-7452-088C634DE322}"/>
              </a:ext>
            </a:extLst>
          </p:cNvPr>
          <p:cNvSpPr txBox="1"/>
          <p:nvPr/>
        </p:nvSpPr>
        <p:spPr>
          <a:xfrm>
            <a:off x="694552" y="910794"/>
            <a:ext cx="1129424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Approval and Merging Permissions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require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one or more team members before merging a PR.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Even if all the checks pass, the PR may need to be approved by a designated person (e.g., the project owner or lead developer). This ensures that at least one person reviews the code before it’s merged.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feature, and once all checks pass (tests, linting, etc.), a reviewer (who is set as an approver) approves the PR, and then you can merge the PR into the main branch.</a:t>
            </a:r>
          </a:p>
        </p:txBody>
      </p:sp>
    </p:spTree>
    <p:extLst>
      <p:ext uri="{BB962C8B-B14F-4D97-AF65-F5344CB8AC3E}">
        <p14:creationId xmlns:p14="http://schemas.microsoft.com/office/powerpoint/2010/main" val="1801409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051DEB-6220-6A0B-294A-D8671D89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9A1F9-CDE2-5986-51DD-C0CE369748F7}"/>
              </a:ext>
            </a:extLst>
          </p:cNvPr>
          <p:cNvSpPr txBox="1"/>
          <p:nvPr/>
        </p:nvSpPr>
        <p:spPr>
          <a:xfrm>
            <a:off x="398164" y="833255"/>
            <a:ext cx="11265516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Dependency Check (Optional)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repositories check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updates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that there are no outdated or insecure dependencies in the code.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check makes sure that the PR doesn’t introduce any outdated libraries that could cause compatibility issues or security vulnerabilities.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PR includes an update to a library (e.g., upgrading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newer version).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dependency check ensures that the update doesn’t conflict with other parts of the project, and the CI tools verify that the system still works as expected.</a:t>
            </a:r>
          </a:p>
        </p:txBody>
      </p:sp>
    </p:spTree>
    <p:extLst>
      <p:ext uri="{BB962C8B-B14F-4D97-AF65-F5344CB8AC3E}">
        <p14:creationId xmlns:p14="http://schemas.microsoft.com/office/powerpoint/2010/main" val="2848303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2AD3AE-B59A-1F84-6A46-C85B20EE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D5D7B-1431-EEBE-A677-843BC2C01139}"/>
              </a:ext>
            </a:extLst>
          </p:cNvPr>
          <p:cNvSpPr txBox="1"/>
          <p:nvPr/>
        </p:nvSpPr>
        <p:spPr>
          <a:xfrm>
            <a:off x="815247" y="974447"/>
            <a:ext cx="1052110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PR Checks are Shown on GitHub: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create or update a PR, you'll see the status of each check in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"Checks"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on GitHub.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"CI Tests Passed"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a green checkmark if all automated tests passed.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"Build Failed"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red X indicates that the build process failed.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"Pending Review"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label indicating that the PR still needs manual review and approval.</a:t>
            </a:r>
          </a:p>
          <a:p>
            <a:pPr marL="742950" lvl="1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"Security Alert"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there is a detected security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2566504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Session-2</Template>
  <TotalTime>1610</TotalTime>
  <Words>2841</Words>
  <Application>Microsoft Office PowerPoint</Application>
  <PresentationFormat>Widescreen</PresentationFormat>
  <Paragraphs>271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Gill Sans MT</vt:lpstr>
      <vt:lpstr>Poppins</vt:lpstr>
      <vt:lpstr>Roboto</vt:lpstr>
      <vt:lpstr>Roboto-Regular</vt:lpstr>
      <vt:lpstr>Tahoma</vt:lpstr>
      <vt:lpstr>Times New Roman</vt:lpstr>
      <vt:lpstr>Gallery</vt:lpstr>
      <vt:lpstr>Department of CSIT</vt:lpstr>
      <vt:lpstr>Overview of  Version control systems</vt:lpstr>
      <vt:lpstr>Core functionalities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Abhishek Guru</dc:creator>
  <cp:lastModifiedBy>Dr G Muni NagaMani</cp:lastModifiedBy>
  <cp:revision>125</cp:revision>
  <dcterms:created xsi:type="dcterms:W3CDTF">2023-05-02T16:26:00Z</dcterms:created>
  <dcterms:modified xsi:type="dcterms:W3CDTF">2026-02-10T06:32:15Z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9D92E8B3CCDD4F159E81FC5DAC5EB7AA_13</vt:lpwstr>
  </property>
  <property fmtid="{D5CDD505-2E9C-101B-9397-08002B2CF9AE}" pid="3" name="KSOProductBuildVer">
    <vt:lpwstr>1033-12.2.0.17119</vt:lpwstr>
  </property>
</Properties>
</file>