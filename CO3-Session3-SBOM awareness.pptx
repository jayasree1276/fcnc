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1"/>
  </p:notesMasterIdLst>
  <p:handoutMasterIdLst>
    <p:handoutMasterId r:id="rId12"/>
  </p:handoutMasterIdLst>
  <p:sldIdLst>
    <p:sldId id="268" r:id="rId2"/>
    <p:sldId id="273" r:id="rId3"/>
    <p:sldId id="274" r:id="rId4"/>
    <p:sldId id="275" r:id="rId5"/>
    <p:sldId id="276" r:id="rId6"/>
    <p:sldId id="279" r:id="rId7"/>
    <p:sldId id="277" r:id="rId8"/>
    <p:sldId id="278" r:id="rId9"/>
    <p:sldId id="272"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63" d="100"/>
          <a:sy n="63" d="100"/>
        </p:scale>
        <p:origin x="804" y="56"/>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775D750-AD1D-4C03-A026-1768137CC901}" type="datetimeFigureOut">
              <a:rPr lang="en-IN" smtClean="0"/>
              <a:t>30-01-2026</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44566E6-FD90-4AE7-9488-620D46A968BE}" type="slidenum">
              <a:rPr lang="en-IN" smtClean="0"/>
              <a:t>‹#›</a:t>
            </a:fld>
            <a:endParaRPr lang="en-IN"/>
          </a:p>
        </p:txBody>
      </p:sp>
    </p:spTree>
    <p:extLst>
      <p:ext uri="{BB962C8B-B14F-4D97-AF65-F5344CB8AC3E}">
        <p14:creationId xmlns:p14="http://schemas.microsoft.com/office/powerpoint/2010/main" val="3645795830"/>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26BB4A-8EA9-40D4-95BF-21E04B247614}" type="datetimeFigureOut">
              <a:rPr lang="en-IN" smtClean="0"/>
              <a:t>30-01-2026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3BDDA1-7BB7-447A-97DE-AE5425C8F2AD}" type="slidenum">
              <a:rPr lang="en-IN" smtClean="0"/>
              <a:t>‹#›</a:t>
            </a:fld>
            <a:endParaRPr lang="en-IN"/>
          </a:p>
        </p:txBody>
      </p:sp>
    </p:spTree>
    <p:extLst>
      <p:ext uri="{BB962C8B-B14F-4D97-AF65-F5344CB8AC3E}">
        <p14:creationId xmlns:p14="http://schemas.microsoft.com/office/powerpoint/2010/main" val="3752635897"/>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a:xfrm>
            <a:off x="1437664" y="798973"/>
            <a:ext cx="811019" cy="503578"/>
          </a:xfrm>
        </p:spPr>
        <p:txBody>
          <a:bodyPr/>
          <a:lstStyle/>
          <a:p>
            <a:fld id="{CBABCCC1-BF11-4F37-963E-1BCD5B23FD72}" type="slidenum">
              <a:rPr lang="en-IN" smtClean="0"/>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&lt;COURSE TITLE&gt;, &lt;TOPIC NAME&gt;</a:t>
            </a:r>
            <a:endParaRPr lang="en-IN" dirty="0"/>
          </a:p>
        </p:txBody>
      </p:sp>
      <p:sp>
        <p:nvSpPr>
          <p:cNvPr id="9" name="Slide Number Placeholder 8"/>
          <p:cNvSpPr>
            <a:spLocks noGrp="1"/>
          </p:cNvSpPr>
          <p:nvPr>
            <p:ph type="sldNum" sz="quarter" idx="12"/>
          </p:nvPr>
        </p:nvSpPr>
        <p:spPr/>
        <p:txBody>
          <a:bodyPr/>
          <a:lstStyle/>
          <a:p>
            <a:fld id="{CBABCCC1-BF11-4F37-963E-1BCD5B23FD72}" type="slidenum">
              <a:rPr lang="en-IN" smtClean="0"/>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&lt;COURSE TITLE&gt;, &lt;TOPIC NAME&gt;</a:t>
            </a:r>
            <a:endParaRPr lang="en-IN" dirty="0"/>
          </a:p>
        </p:txBody>
      </p:sp>
      <p:sp>
        <p:nvSpPr>
          <p:cNvPr id="5" name="Slide Number Placeholder 4"/>
          <p:cNvSpPr>
            <a:spLocks noGrp="1"/>
          </p:cNvSpPr>
          <p:nvPr>
            <p:ph type="sldNum" sz="quarter" idx="12"/>
          </p:nvPr>
        </p:nvSpPr>
        <p:spPr/>
        <p:txBody>
          <a:bodyPr/>
          <a:lstStyle/>
          <a:p>
            <a:fld id="{CBABCCC1-BF11-4F37-963E-1BCD5B23FD72}" type="slidenum">
              <a:rPr lang="en-IN" smtClean="0"/>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&lt;COURSE TITLE&gt;, &lt;TOPIC NAME&gt;</a:t>
            </a:r>
            <a:endParaRPr lang="en-IN" dirty="0"/>
          </a:p>
        </p:txBody>
      </p:sp>
      <p:sp>
        <p:nvSpPr>
          <p:cNvPr id="4" name="Slide Number Placeholder 3"/>
          <p:cNvSpPr>
            <a:spLocks noGrp="1"/>
          </p:cNvSpPr>
          <p:nvPr>
            <p:ph type="sldNum" sz="quarter" idx="12"/>
          </p:nvPr>
        </p:nvSpPr>
        <p:spPr/>
        <p:txBody>
          <a:bodyPr/>
          <a:lstStyle/>
          <a:p>
            <a:fld id="{CBABCCC1-BF11-4F37-963E-1BCD5B23FD72}"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9" y="379083"/>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r>
              <a:rPr lang="en-US"/>
              <a:t>&lt;COURSE TITLE&gt;, &lt;TOPIC NAME&gt;</a:t>
            </a:r>
            <a:endParaRPr lang="en-IN" dirty="0"/>
          </a:p>
        </p:txBody>
      </p:sp>
      <p:sp>
        <p:nvSpPr>
          <p:cNvPr id="6" name="Slide Number Placeholder 5"/>
          <p:cNvSpPr>
            <a:spLocks noGrp="1"/>
          </p:cNvSpPr>
          <p:nvPr>
            <p:ph type="sldNum" sz="quarter" idx="4"/>
          </p:nvPr>
        </p:nvSpPr>
        <p:spPr>
          <a:xfrm>
            <a:off x="5690490" y="6291139"/>
            <a:ext cx="811019" cy="503578"/>
          </a:xfrm>
          <a:prstGeom prst="rect">
            <a:avLst/>
          </a:prstGeom>
        </p:spPr>
        <p:txBody>
          <a:bodyPr vert="horz" lIns="91440" tIns="45720" rIns="91440" bIns="45720" rtlCol="0" anchor="t"/>
          <a:lstStyle>
            <a:lvl1pPr algn="ctr">
              <a:defRPr sz="2200">
                <a:solidFill>
                  <a:schemeClr val="accent1"/>
                </a:solidFill>
              </a:defRPr>
            </a:lvl1pPr>
          </a:lstStyle>
          <a:p>
            <a:fld id="{CBABCCC1-BF11-4F37-963E-1BCD5B23FD72}" type="slidenum">
              <a:rPr lang="en-IN" smtClean="0"/>
              <a:t>‹#›</a:t>
            </a:fld>
            <a:endParaRPr lang="en-IN"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9" name="Picture 8" descr="Icon&#10;&#10;Description automatically generated with medium confidence"/>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77444" y="32699"/>
            <a:ext cx="1218935" cy="500985"/>
          </a:xfrm>
          <a:prstGeom prst="rect">
            <a:avLst/>
          </a:prstGeom>
        </p:spPr>
      </p:pic>
      <p:pic>
        <p:nvPicPr>
          <p:cNvPr id="12" name="Picture 11"/>
          <p:cNvPicPr>
            <a:picLocks noChangeAspect="1"/>
          </p:cNvPicPr>
          <p:nvPr userDrawn="1"/>
        </p:nvPicPr>
        <p:blipFill rotWithShape="1">
          <a:blip r:embed="rId14" cstate="print">
            <a:extLst>
              <a:ext uri="{28A0092B-C50C-407E-A947-70E740481C1C}">
                <a14:useLocalDpi xmlns:a14="http://schemas.microsoft.com/office/drawing/2010/main" val="0"/>
              </a:ext>
            </a:extLst>
          </a:blip>
          <a:srcRect l="4360" t="18054" b="50110"/>
          <a:stretch>
            <a:fillRect/>
          </a:stretch>
        </p:blipFill>
        <p:spPr>
          <a:xfrm>
            <a:off x="1451579" y="6373097"/>
            <a:ext cx="2912198" cy="351077"/>
          </a:xfrm>
          <a:prstGeom prst="rect">
            <a:avLst/>
          </a:prstGeom>
        </p:spPr>
      </p:pic>
      <p:pic>
        <p:nvPicPr>
          <p:cNvPr id="14" name="Picture 13" descr="Text&#10;&#10;Description automatically generated with medium confidence"/>
          <p:cNvPicPr>
            <a:picLocks noChangeAspect="1"/>
          </p:cNvPicPr>
          <p:nvPr userDrawn="1"/>
        </p:nvPicPr>
        <p:blipFill rotWithShape="1">
          <a:blip r:embed="rId15" cstate="print">
            <a:extLst>
              <a:ext uri="{28A0092B-C50C-407E-A947-70E740481C1C}">
                <a14:useLocalDpi xmlns:a14="http://schemas.microsoft.com/office/drawing/2010/main" val="0"/>
              </a:ext>
            </a:extLst>
          </a:blip>
          <a:srcRect t="53957" r="20929" b="13232"/>
          <a:stretch>
            <a:fillRect/>
          </a:stretch>
        </p:blipFill>
        <p:spPr>
          <a:xfrm>
            <a:off x="8825503" y="6373097"/>
            <a:ext cx="2229351" cy="335027"/>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oogle Shape;464;p16"/>
          <p:cNvPicPr preferRelativeResize="0"/>
          <p:nvPr/>
        </p:nvPicPr>
        <p:blipFill>
          <a:blip r:embed="rId2">
            <a:extLst>
              <a:ext uri="{28A0092B-C50C-407E-A947-70E740481C1C}">
                <a14:useLocalDpi xmlns:a14="http://schemas.microsoft.com/office/drawing/2010/main" val="0"/>
              </a:ext>
            </a:extLst>
          </a:blip>
          <a:stretch>
            <a:fillRect/>
          </a:stretch>
        </p:blipFill>
        <p:spPr>
          <a:xfrm>
            <a:off x="83128" y="356260"/>
            <a:ext cx="5545776" cy="5684061"/>
          </a:xfrm>
          <a:prstGeom prst="rect">
            <a:avLst/>
          </a:prstGeom>
          <a:noFill/>
          <a:ln>
            <a:noFill/>
          </a:ln>
        </p:spPr>
      </p:pic>
      <p:sp>
        <p:nvSpPr>
          <p:cNvPr id="5" name="Google Shape;475;p16"/>
          <p:cNvSpPr txBox="1">
            <a:spLocks noGrp="1"/>
          </p:cNvSpPr>
          <p:nvPr>
            <p:ph type="ctrTitle"/>
          </p:nvPr>
        </p:nvSpPr>
        <p:spPr>
          <a:xfrm>
            <a:off x="4039419" y="557484"/>
            <a:ext cx="8637073" cy="480091"/>
          </a:xfrm>
          <a:prstGeom prst="rect">
            <a:avLst/>
          </a:prstGeom>
          <a:noFill/>
          <a:ln>
            <a:noFill/>
          </a:ln>
          <a:effectLst/>
        </p:spPr>
        <p:txBody>
          <a:bodyPr spcFirstLastPara="1" wrap="square" lIns="91425" tIns="45700" rIns="91425" bIns="45700" anchor="t" anchorCtr="0">
            <a:spAutoFit/>
          </a:bodyPr>
          <a:lstStyle/>
          <a:p>
            <a:pPr algn="ctr"/>
            <a:r>
              <a:rPr lang="en-US" sz="2800" b="1" dirty="0">
                <a:solidFill>
                  <a:srgbClr val="C00000"/>
                </a:solidFill>
                <a:latin typeface="Times New Roman" panose="02020603050405020304" pitchFamily="18" charset="0"/>
                <a:cs typeface="Times New Roman" panose="02020603050405020304" pitchFamily="18" charset="0"/>
              </a:rPr>
              <a:t>Department of CSIT</a:t>
            </a:r>
          </a:p>
        </p:txBody>
      </p:sp>
      <p:sp>
        <p:nvSpPr>
          <p:cNvPr id="6" name="Google Shape;476;p16"/>
          <p:cNvSpPr txBox="1"/>
          <p:nvPr/>
        </p:nvSpPr>
        <p:spPr>
          <a:xfrm>
            <a:off x="4819387" y="1203208"/>
            <a:ext cx="7077136" cy="4493497"/>
          </a:xfrm>
          <a:prstGeom prst="rect">
            <a:avLst/>
          </a:prstGeom>
          <a:noFill/>
          <a:ln>
            <a:noFill/>
          </a:ln>
        </p:spPr>
        <p:txBody>
          <a:bodyPr spcFirstLastPara="1" wrap="square" lIns="91425" tIns="45700" rIns="91425" bIns="45700" anchor="t" anchorCtr="0">
            <a:spAutoFit/>
          </a:bodyPr>
          <a:lstStyle/>
          <a:p>
            <a:pPr algn="ctr"/>
            <a:r>
              <a:rPr lang="en-US" sz="2400" b="1" cap="all" dirty="0">
                <a:ln/>
                <a:latin typeface="Times New Roman" panose="02020603050405020304" pitchFamily="18" charset="0"/>
                <a:cs typeface="Times New Roman" panose="02020603050405020304" pitchFamily="18" charset="0"/>
                <a:sym typeface="BioRhyme ExtraBold"/>
              </a:rPr>
              <a:t>COURSE NAME </a:t>
            </a:r>
            <a:endParaRPr lang="en-IN" dirty="0"/>
          </a:p>
          <a:p>
            <a:pPr algn="ctr"/>
            <a:r>
              <a:rPr lang="en-US" dirty="0"/>
              <a:t> </a:t>
            </a:r>
            <a:r>
              <a:rPr lang="en-US" sz="2400" b="1" dirty="0">
                <a:solidFill>
                  <a:srgbClr val="C00000"/>
                </a:solidFill>
                <a:latin typeface="Times New Roman" panose="02020603050405020304" pitchFamily="18" charset="0"/>
                <a:cs typeface="Times New Roman" panose="02020603050405020304" pitchFamily="18" charset="0"/>
              </a:rPr>
              <a:t>FOUNDATIONS OF CLOUD-NATIVE COMPUTING &amp; DEVOPS</a:t>
            </a:r>
            <a:r>
              <a:rPr lang="en-US" dirty="0"/>
              <a:t>	</a:t>
            </a:r>
          </a:p>
          <a:p>
            <a:pPr marR="0" lvl="0" indent="0" algn="ctr">
              <a:lnSpc>
                <a:spcPct val="150000"/>
              </a:lnSpc>
              <a:spcBef>
                <a:spcPts val="0"/>
              </a:spcBef>
              <a:spcAft>
                <a:spcPts val="0"/>
              </a:spcAft>
              <a:buNone/>
            </a:pPr>
            <a:endParaRPr lang="en-US" sz="2400" b="1" cap="all" dirty="0">
              <a:ln/>
              <a:latin typeface="Times New Roman" panose="02020603050405020304" pitchFamily="18" charset="0"/>
              <a:cs typeface="Times New Roman" panose="02020603050405020304" pitchFamily="18" charset="0"/>
              <a:sym typeface="BioRhyme ExtraBold"/>
            </a:endParaRPr>
          </a:p>
          <a:p>
            <a:pPr algn="ctr"/>
            <a:r>
              <a:rPr lang="en-US" sz="2400" b="1" cap="all" dirty="0">
                <a:ln/>
                <a:latin typeface="Times New Roman" panose="02020603050405020304" pitchFamily="18" charset="0"/>
                <a:cs typeface="Times New Roman" panose="02020603050405020304" pitchFamily="18" charset="0"/>
                <a:sym typeface="BioRhyme ExtraBold"/>
              </a:rPr>
              <a:t>COURSE CODE </a:t>
            </a:r>
            <a:r>
              <a:rPr lang="en-US" sz="2400" b="1" cap="all" dirty="0">
                <a:ln/>
                <a:solidFill>
                  <a:srgbClr val="C00000"/>
                </a:solidFill>
                <a:latin typeface="Times New Roman" panose="02020603050405020304" pitchFamily="18" charset="0"/>
                <a:cs typeface="Times New Roman" panose="02020603050405020304" pitchFamily="18" charset="0"/>
                <a:sym typeface="BioRhyme ExtraBold"/>
              </a:rPr>
              <a:t>–</a:t>
            </a:r>
            <a:r>
              <a:rPr lang="en-IN" sz="2400" b="1" dirty="0">
                <a:solidFill>
                  <a:srgbClr val="C00000"/>
                </a:solidFill>
                <a:latin typeface="Times New Roman" panose="02020603050405020304" pitchFamily="18" charset="0"/>
                <a:cs typeface="Times New Roman" panose="02020603050405020304" pitchFamily="18" charset="0"/>
              </a:rPr>
              <a:t>24CS2260F</a:t>
            </a:r>
            <a:r>
              <a:rPr lang="en-IN" dirty="0"/>
              <a:t>	</a:t>
            </a:r>
          </a:p>
          <a:p>
            <a:pPr marR="0" lvl="0" indent="0" algn="ctr">
              <a:lnSpc>
                <a:spcPct val="150000"/>
              </a:lnSpc>
              <a:spcBef>
                <a:spcPts val="0"/>
              </a:spcBef>
              <a:spcAft>
                <a:spcPts val="0"/>
              </a:spcAft>
              <a:buNone/>
            </a:pPr>
            <a:endParaRPr lang="en-IN" sz="2400" b="1"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R="0" lvl="0" indent="0" algn="ctr">
              <a:lnSpc>
                <a:spcPct val="150000"/>
              </a:lnSpc>
              <a:spcBef>
                <a:spcPts val="0"/>
              </a:spcBef>
              <a:spcAft>
                <a:spcPts val="0"/>
              </a:spcAft>
              <a:buNone/>
            </a:pPr>
            <a:r>
              <a:rPr lang="en-US" sz="2400" b="1" dirty="0">
                <a:solidFill>
                  <a:schemeClr val="bg1">
                    <a:lumMod val="50000"/>
                  </a:schemeClr>
                </a:solidFill>
                <a:latin typeface="Times New Roman" panose="02020603050405020304" pitchFamily="18" charset="0"/>
                <a:ea typeface="BioRhyme ExtraBold"/>
                <a:cs typeface="Times New Roman" panose="02020603050405020304" pitchFamily="18" charset="0"/>
                <a:sym typeface="BioRhyme ExtraBold"/>
              </a:rPr>
              <a:t>Topic: </a:t>
            </a:r>
          </a:p>
          <a:p>
            <a:endParaRPr lang="en-IN" dirty="0"/>
          </a:p>
          <a:p>
            <a:pPr algn="ctr"/>
            <a:r>
              <a:rPr lang="en-IN" sz="2800" b="1" dirty="0">
                <a:solidFill>
                  <a:srgbClr val="C00000"/>
                </a:solidFill>
                <a:latin typeface="Times New Roman" panose="02020603050405020304" pitchFamily="18" charset="0"/>
                <a:cs typeface="Times New Roman" panose="02020603050405020304" pitchFamily="18" charset="0"/>
              </a:rPr>
              <a:t>        SBOM awareness </a:t>
            </a:r>
            <a:r>
              <a:rPr lang="en-IN" dirty="0"/>
              <a:t>	</a:t>
            </a:r>
            <a:endParaRPr lang="en-IN" sz="3200" b="1" dirty="0">
              <a:solidFill>
                <a:srgbClr val="C00000"/>
              </a:solidFill>
              <a:latin typeface="Times New Roman" panose="02020603050405020304" pitchFamily="18" charset="0"/>
              <a:cs typeface="Times New Roman" panose="02020603050405020304" pitchFamily="18" charset="0"/>
            </a:endParaRPr>
          </a:p>
          <a:p>
            <a:pPr algn="ctr">
              <a:lnSpc>
                <a:spcPct val="150000"/>
              </a:lnSpc>
            </a:pPr>
            <a:endParaRPr lang="en-IN" sz="2400" b="1" dirty="0">
              <a:latin typeface="Times New Roman" panose="02020603050405020304" pitchFamily="18" charset="0"/>
              <a:cs typeface="Times New Roman" panose="02020603050405020304" pitchFamily="18" charset="0"/>
            </a:endParaRPr>
          </a:p>
        </p:txBody>
      </p:sp>
      <p:sp>
        <p:nvSpPr>
          <p:cNvPr id="7" name="Google Shape;502;p17">
            <a:extLst>
              <a:ext uri="{FF2B5EF4-FFF2-40B4-BE49-F238E27FC236}">
                <a16:creationId xmlns:a16="http://schemas.microsoft.com/office/drawing/2014/main" id="{7153E61F-4441-DBE3-3DFF-6E9EF6C48D23}"/>
              </a:ext>
            </a:extLst>
          </p:cNvPr>
          <p:cNvSpPr>
            <a:spLocks noGrp="1"/>
          </p:cNvSpPr>
          <p:nvPr>
            <p:ph type="subTitle" idx="1"/>
          </p:nvPr>
        </p:nvSpPr>
        <p:spPr>
          <a:xfrm>
            <a:off x="7546108" y="3791480"/>
            <a:ext cx="2161309" cy="544625"/>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dirty="0">
                <a:solidFill>
                  <a:schemeClr val="lt1"/>
                </a:solidFill>
                <a:latin typeface="Times New Roman" panose="02020603050405020304" pitchFamily="18" charset="0"/>
                <a:ea typeface="Calibri"/>
                <a:cs typeface="Times New Roman" panose="02020603050405020304" pitchFamily="18" charset="0"/>
                <a:sym typeface="Calibri"/>
              </a:rPr>
              <a:t>Session - </a:t>
            </a:r>
            <a:endParaRPr sz="2400" b="1" dirty="0">
              <a:solidFill>
                <a:schemeClr val="lt1"/>
              </a:solidFill>
              <a:latin typeface="Times New Roman" panose="02020603050405020304" pitchFamily="18" charset="0"/>
              <a:ea typeface="Calibri"/>
              <a:cs typeface="Times New Roman" panose="02020603050405020304" pitchFamily="18" charset="0"/>
              <a:sym typeface="Calibri"/>
            </a:endParaRPr>
          </a:p>
        </p:txBody>
      </p:sp>
    </p:spTree>
    <p:extLst>
      <p:ext uri="{BB962C8B-B14F-4D97-AF65-F5344CB8AC3E}">
        <p14:creationId xmlns:p14="http://schemas.microsoft.com/office/powerpoint/2010/main" val="39205133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28B750C-418E-BFCB-3E5F-A8153FC6C115}"/>
              </a:ext>
            </a:extLst>
          </p:cNvPr>
          <p:cNvSpPr>
            <a:spLocks noGrp="1"/>
          </p:cNvSpPr>
          <p:nvPr>
            <p:ph type="sldNum" sz="quarter" idx="12"/>
          </p:nvPr>
        </p:nvSpPr>
        <p:spPr/>
        <p:txBody>
          <a:bodyPr/>
          <a:lstStyle/>
          <a:p>
            <a:fld id="{CBABCCC1-BF11-4F37-963E-1BCD5B23FD72}" type="slidenum">
              <a:rPr lang="en-IN" smtClean="0"/>
              <a:t>2</a:t>
            </a:fld>
            <a:endParaRPr lang="en-IN"/>
          </a:p>
        </p:txBody>
      </p:sp>
      <p:sp>
        <p:nvSpPr>
          <p:cNvPr id="4" name="TextBox 3">
            <a:extLst>
              <a:ext uri="{FF2B5EF4-FFF2-40B4-BE49-F238E27FC236}">
                <a16:creationId xmlns:a16="http://schemas.microsoft.com/office/drawing/2014/main" id="{36816F6F-C3AF-85A5-9750-E9C488D5AEA0}"/>
              </a:ext>
            </a:extLst>
          </p:cNvPr>
          <p:cNvSpPr txBox="1"/>
          <p:nvPr/>
        </p:nvSpPr>
        <p:spPr>
          <a:xfrm>
            <a:off x="774700" y="803255"/>
            <a:ext cx="11153140" cy="5216813"/>
          </a:xfrm>
          <a:prstGeom prst="rect">
            <a:avLst/>
          </a:prstGeom>
          <a:noFill/>
        </p:spPr>
        <p:txBody>
          <a:bodyPr wrap="square">
            <a:spAutoFit/>
          </a:bodyPr>
          <a:lstStyle/>
          <a:p>
            <a:pPr algn="just">
              <a:spcBef>
                <a:spcPts val="600"/>
              </a:spcBef>
              <a:spcAft>
                <a:spcPts val="600"/>
              </a:spcAft>
            </a:pPr>
            <a:r>
              <a:rPr lang="en-US" sz="2400" b="0" i="0" dirty="0">
                <a:solidFill>
                  <a:srgbClr val="111827"/>
                </a:solidFill>
                <a:effectLst/>
                <a:latin typeface="Times New Roman" panose="02020603050405020304" pitchFamily="18" charset="0"/>
                <a:cs typeface="Times New Roman" panose="02020603050405020304" pitchFamily="18" charset="0"/>
              </a:rPr>
              <a:t>	SBOM (</a:t>
            </a:r>
            <a:r>
              <a:rPr lang="en-IN" sz="2400" dirty="0">
                <a:latin typeface="Times New Roman" panose="02020603050405020304" pitchFamily="18" charset="0"/>
                <a:cs typeface="Times New Roman" panose="02020603050405020304" pitchFamily="18" charset="0"/>
              </a:rPr>
              <a:t>Software Bill of Materials)</a:t>
            </a:r>
            <a:r>
              <a:rPr lang="en-US" sz="2400" b="0" i="0" dirty="0">
                <a:solidFill>
                  <a:srgbClr val="111827"/>
                </a:solidFill>
                <a:effectLst/>
                <a:latin typeface="Times New Roman" panose="02020603050405020304" pitchFamily="18" charset="0"/>
                <a:cs typeface="Times New Roman" panose="02020603050405020304" pitchFamily="18" charset="0"/>
              </a:rPr>
              <a:t>is a rich, multi-dimensional document that captures not just what components are present, but their relationships, origins, security status, and legal implications</a:t>
            </a:r>
            <a:endParaRPr lang="en-US" sz="2400" dirty="0">
              <a:solidFill>
                <a:srgbClr val="111827"/>
              </a:solidFill>
              <a:latin typeface="Times New Roman" panose="02020603050405020304" pitchFamily="18" charset="0"/>
              <a:cs typeface="Times New Roman" panose="02020603050405020304" pitchFamily="18" charset="0"/>
            </a:endParaRPr>
          </a:p>
          <a:p>
            <a:pPr algn="just">
              <a:spcBef>
                <a:spcPts val="600"/>
              </a:spcBef>
              <a:spcAft>
                <a:spcPts val="600"/>
              </a:spcAft>
            </a:pPr>
            <a:r>
              <a:rPr lang="en-US" sz="2400" b="1" dirty="0">
                <a:latin typeface="Times New Roman" panose="02020603050405020304" pitchFamily="18" charset="0"/>
                <a:cs typeface="Times New Roman" panose="02020603050405020304" pitchFamily="18" charset="0"/>
              </a:rPr>
              <a:t>Why Container SBOMs Matter</a:t>
            </a:r>
          </a:p>
          <a:p>
            <a:pPr algn="just">
              <a:spcBef>
                <a:spcPts val="600"/>
              </a:spcBef>
              <a:spcAft>
                <a:spcPts val="600"/>
              </a:spcAft>
            </a:pPr>
            <a:r>
              <a:rPr lang="en-US" sz="2400" dirty="0">
                <a:latin typeface="Times New Roman" panose="02020603050405020304" pitchFamily="18" charset="0"/>
                <a:cs typeface="Times New Roman" panose="02020603050405020304" pitchFamily="18" charset="0"/>
              </a:rPr>
              <a:t>Container images contain multiple layers of dependencies:</a:t>
            </a:r>
          </a:p>
          <a:p>
            <a:pPr marL="742950" lvl="1" indent="-285750" algn="just">
              <a:spcBef>
                <a:spcPts val="600"/>
              </a:spcBef>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Base operating system packages</a:t>
            </a:r>
          </a:p>
          <a:p>
            <a:pPr marL="742950" lvl="1" indent="-285750" algn="just">
              <a:spcBef>
                <a:spcPts val="600"/>
              </a:spcBef>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Runtime dependencies</a:t>
            </a:r>
          </a:p>
          <a:p>
            <a:pPr marL="742950" lvl="1" indent="-285750" algn="just">
              <a:spcBef>
                <a:spcPts val="600"/>
              </a:spcBef>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Application libraries and frameworks</a:t>
            </a:r>
          </a:p>
          <a:p>
            <a:pPr marL="742950" lvl="1" indent="-285750" algn="just">
              <a:spcBef>
                <a:spcPts val="600"/>
              </a:spcBef>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Development and build tools (in multi-stage builds)</a:t>
            </a:r>
          </a:p>
          <a:p>
            <a:pPr marL="742950" lvl="1" indent="-285750" algn="just">
              <a:spcBef>
                <a:spcPts val="600"/>
              </a:spcBef>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Configuration files and certificates</a:t>
            </a:r>
          </a:p>
          <a:p>
            <a:endParaRPr lang="en-IN" dirty="0"/>
          </a:p>
        </p:txBody>
      </p:sp>
    </p:spTree>
    <p:extLst>
      <p:ext uri="{BB962C8B-B14F-4D97-AF65-F5344CB8AC3E}">
        <p14:creationId xmlns:p14="http://schemas.microsoft.com/office/powerpoint/2010/main" val="2239998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8949277-308D-5EB4-AA38-B765B424F703}"/>
              </a:ext>
            </a:extLst>
          </p:cNvPr>
          <p:cNvSpPr>
            <a:spLocks noGrp="1"/>
          </p:cNvSpPr>
          <p:nvPr>
            <p:ph type="sldNum" sz="quarter" idx="12"/>
          </p:nvPr>
        </p:nvSpPr>
        <p:spPr/>
        <p:txBody>
          <a:bodyPr/>
          <a:lstStyle/>
          <a:p>
            <a:fld id="{CBABCCC1-BF11-4F37-963E-1BCD5B23FD72}" type="slidenum">
              <a:rPr lang="en-IN" smtClean="0"/>
              <a:t>3</a:t>
            </a:fld>
            <a:endParaRPr lang="en-IN"/>
          </a:p>
        </p:txBody>
      </p:sp>
      <p:sp>
        <p:nvSpPr>
          <p:cNvPr id="4" name="TextBox 3">
            <a:extLst>
              <a:ext uri="{FF2B5EF4-FFF2-40B4-BE49-F238E27FC236}">
                <a16:creationId xmlns:a16="http://schemas.microsoft.com/office/drawing/2014/main" id="{95747844-EAB6-D7DA-37CD-69BFF4835331}"/>
              </a:ext>
            </a:extLst>
          </p:cNvPr>
          <p:cNvSpPr txBox="1"/>
          <p:nvPr/>
        </p:nvSpPr>
        <p:spPr>
          <a:xfrm>
            <a:off x="1018540" y="662077"/>
            <a:ext cx="10472420" cy="3077766"/>
          </a:xfrm>
          <a:prstGeom prst="rect">
            <a:avLst/>
          </a:prstGeom>
          <a:noFill/>
        </p:spPr>
        <p:txBody>
          <a:bodyPr wrap="square">
            <a:spAutoFit/>
          </a:bodyPr>
          <a:lstStyle/>
          <a:p>
            <a:pPr algn="l">
              <a:spcBef>
                <a:spcPts val="600"/>
              </a:spcBef>
              <a:spcAft>
                <a:spcPts val="600"/>
              </a:spcAft>
              <a:buNone/>
            </a:pPr>
            <a:r>
              <a:rPr lang="en-US" sz="2400" b="1" i="0" dirty="0">
                <a:solidFill>
                  <a:srgbClr val="111827"/>
                </a:solidFill>
                <a:effectLst/>
                <a:latin typeface="Times New Roman" panose="02020603050405020304" pitchFamily="18" charset="0"/>
                <a:cs typeface="Times New Roman" panose="02020603050405020304" pitchFamily="18" charset="0"/>
              </a:rPr>
              <a:t>Container SBOMs help organizations:</a:t>
            </a:r>
          </a:p>
          <a:p>
            <a:pPr marL="742950" lvl="1" indent="-285750">
              <a:spcBef>
                <a:spcPts val="600"/>
              </a:spcBef>
              <a:spcAft>
                <a:spcPts val="600"/>
              </a:spcAft>
              <a:buFont typeface="Arial" panose="020B0604020202020204" pitchFamily="34" charset="0"/>
              <a:buChar char="•"/>
            </a:pPr>
            <a:r>
              <a:rPr lang="en-US" sz="2400" b="0" i="0" dirty="0">
                <a:solidFill>
                  <a:srgbClr val="111827"/>
                </a:solidFill>
                <a:effectLst/>
                <a:latin typeface="Times New Roman" panose="02020603050405020304" pitchFamily="18" charset="0"/>
                <a:cs typeface="Times New Roman" panose="02020603050405020304" pitchFamily="18" charset="0"/>
              </a:rPr>
              <a:t>Track vulnerabilities across the entire container stack</a:t>
            </a:r>
          </a:p>
          <a:p>
            <a:pPr marL="742950" lvl="1" indent="-285750">
              <a:spcBef>
                <a:spcPts val="600"/>
              </a:spcBef>
              <a:spcAft>
                <a:spcPts val="600"/>
              </a:spcAft>
              <a:buFont typeface="Arial" panose="020B0604020202020204" pitchFamily="34" charset="0"/>
              <a:buChar char="•"/>
            </a:pPr>
            <a:r>
              <a:rPr lang="en-US" sz="2400" b="0" i="0" dirty="0">
                <a:solidFill>
                  <a:srgbClr val="111827"/>
                </a:solidFill>
                <a:effectLst/>
                <a:latin typeface="Times New Roman" panose="02020603050405020304" pitchFamily="18" charset="0"/>
                <a:cs typeface="Times New Roman" panose="02020603050405020304" pitchFamily="18" charset="0"/>
              </a:rPr>
              <a:t>Meet compliance requirements for containerized applications</a:t>
            </a:r>
          </a:p>
          <a:p>
            <a:pPr marL="742950" lvl="1" indent="-285750">
              <a:spcBef>
                <a:spcPts val="600"/>
              </a:spcBef>
              <a:spcAft>
                <a:spcPts val="600"/>
              </a:spcAft>
              <a:buFont typeface="Arial" panose="020B0604020202020204" pitchFamily="34" charset="0"/>
              <a:buChar char="•"/>
            </a:pPr>
            <a:r>
              <a:rPr lang="en-US" sz="2400" b="0" i="0" dirty="0">
                <a:solidFill>
                  <a:srgbClr val="111827"/>
                </a:solidFill>
                <a:effectLst/>
                <a:latin typeface="Times New Roman" panose="02020603050405020304" pitchFamily="18" charset="0"/>
                <a:cs typeface="Times New Roman" panose="02020603050405020304" pitchFamily="18" charset="0"/>
              </a:rPr>
              <a:t>Implement security policies based on component inventory</a:t>
            </a:r>
          </a:p>
          <a:p>
            <a:pPr marL="742950" lvl="1" indent="-285750">
              <a:spcBef>
                <a:spcPts val="600"/>
              </a:spcBef>
              <a:spcAft>
                <a:spcPts val="600"/>
              </a:spcAft>
              <a:buFont typeface="Arial" panose="020B0604020202020204" pitchFamily="34" charset="0"/>
              <a:buChar char="•"/>
            </a:pPr>
            <a:r>
              <a:rPr lang="en-US" sz="2400" b="0" i="0" dirty="0">
                <a:solidFill>
                  <a:srgbClr val="111827"/>
                </a:solidFill>
                <a:effectLst/>
                <a:latin typeface="Times New Roman" panose="02020603050405020304" pitchFamily="18" charset="0"/>
                <a:cs typeface="Times New Roman" panose="02020603050405020304" pitchFamily="18" charset="0"/>
              </a:rPr>
              <a:t>Respond quickly to </a:t>
            </a:r>
            <a:r>
              <a:rPr lang="en-US" sz="2400" dirty="0">
                <a:latin typeface="Times New Roman" panose="02020603050405020304" pitchFamily="18" charset="0"/>
                <a:cs typeface="Times New Roman" panose="02020603050405020304" pitchFamily="18" charset="0"/>
              </a:rPr>
              <a:t>supply chain security </a:t>
            </a:r>
            <a:r>
              <a:rPr lang="en-US" sz="2400" b="0" i="0" dirty="0">
                <a:effectLst/>
                <a:latin typeface="Times New Roman" panose="02020603050405020304" pitchFamily="18" charset="0"/>
                <a:cs typeface="Times New Roman" panose="02020603050405020304" pitchFamily="18" charset="0"/>
              </a:rPr>
              <a:t> </a:t>
            </a:r>
            <a:r>
              <a:rPr lang="en-US" sz="2400" b="0" i="0" dirty="0">
                <a:solidFill>
                  <a:srgbClr val="111827"/>
                </a:solidFill>
                <a:effectLst/>
                <a:latin typeface="Times New Roman" panose="02020603050405020304" pitchFamily="18" charset="0"/>
                <a:cs typeface="Times New Roman" panose="02020603050405020304" pitchFamily="18" charset="0"/>
              </a:rPr>
              <a:t>incidents</a:t>
            </a:r>
          </a:p>
          <a:p>
            <a:pPr marL="742950" lvl="1" indent="-285750">
              <a:spcBef>
                <a:spcPts val="600"/>
              </a:spcBef>
              <a:spcAft>
                <a:spcPts val="600"/>
              </a:spcAft>
              <a:buFont typeface="Arial" panose="020B0604020202020204" pitchFamily="34" charset="0"/>
              <a:buChar char="•"/>
            </a:pPr>
            <a:r>
              <a:rPr lang="en-US" sz="2400" b="0" i="0" dirty="0">
                <a:solidFill>
                  <a:srgbClr val="111827"/>
                </a:solidFill>
                <a:effectLst/>
                <a:latin typeface="Times New Roman" panose="02020603050405020304" pitchFamily="18" charset="0"/>
                <a:cs typeface="Times New Roman" panose="02020603050405020304" pitchFamily="18" charset="0"/>
              </a:rPr>
              <a:t>Optimize image size by identifying unnecessary components</a:t>
            </a:r>
          </a:p>
        </p:txBody>
      </p:sp>
      <p:sp>
        <p:nvSpPr>
          <p:cNvPr id="6" name="TextBox 5">
            <a:extLst>
              <a:ext uri="{FF2B5EF4-FFF2-40B4-BE49-F238E27FC236}">
                <a16:creationId xmlns:a16="http://schemas.microsoft.com/office/drawing/2014/main" id="{70FAD803-766B-0756-BBE9-98FDDE920E67}"/>
              </a:ext>
            </a:extLst>
          </p:cNvPr>
          <p:cNvSpPr txBox="1"/>
          <p:nvPr/>
        </p:nvSpPr>
        <p:spPr>
          <a:xfrm>
            <a:off x="683260" y="3955534"/>
            <a:ext cx="6101080" cy="984885"/>
          </a:xfrm>
          <a:prstGeom prst="rect">
            <a:avLst/>
          </a:prstGeom>
          <a:noFill/>
        </p:spPr>
        <p:txBody>
          <a:bodyPr wrap="square">
            <a:spAutoFit/>
          </a:bodyPr>
          <a:lstStyle/>
          <a:p>
            <a:pPr>
              <a:spcBef>
                <a:spcPts val="600"/>
              </a:spcBef>
              <a:spcAft>
                <a:spcPts val="600"/>
              </a:spcAft>
            </a:pPr>
            <a:r>
              <a:rPr lang="en-IN" sz="2400" b="1" i="0" dirty="0">
                <a:solidFill>
                  <a:srgbClr val="111827"/>
                </a:solidFill>
                <a:effectLst/>
                <a:latin typeface="Times New Roman" panose="02020603050405020304" pitchFamily="18" charset="0"/>
                <a:cs typeface="Times New Roman" panose="02020603050405020304" pitchFamily="18" charset="0"/>
              </a:rPr>
              <a:t>SBOM formats:</a:t>
            </a:r>
          </a:p>
          <a:p>
            <a:pPr lvl="1">
              <a:spcBef>
                <a:spcPts val="600"/>
              </a:spcBef>
              <a:spcAft>
                <a:spcPts val="600"/>
              </a:spcAft>
            </a:pPr>
            <a:r>
              <a:rPr lang="en-IN" sz="2400" dirty="0">
                <a:latin typeface="Times New Roman" panose="02020603050405020304" pitchFamily="18" charset="0"/>
                <a:cs typeface="Times New Roman" panose="02020603050405020304" pitchFamily="18" charset="0"/>
              </a:rPr>
              <a:t>JSON,XML,CSV,YAML,RDF etc..</a:t>
            </a:r>
          </a:p>
        </p:txBody>
      </p:sp>
    </p:spTree>
    <p:extLst>
      <p:ext uri="{BB962C8B-B14F-4D97-AF65-F5344CB8AC3E}">
        <p14:creationId xmlns:p14="http://schemas.microsoft.com/office/powerpoint/2010/main" val="29416222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F198C50-751B-4272-51E0-F391A5350094}"/>
              </a:ext>
            </a:extLst>
          </p:cNvPr>
          <p:cNvSpPr>
            <a:spLocks noGrp="1"/>
          </p:cNvSpPr>
          <p:nvPr>
            <p:ph type="sldNum" sz="quarter" idx="12"/>
          </p:nvPr>
        </p:nvSpPr>
        <p:spPr/>
        <p:txBody>
          <a:bodyPr/>
          <a:lstStyle/>
          <a:p>
            <a:fld id="{CBABCCC1-BF11-4F37-963E-1BCD5B23FD72}" type="slidenum">
              <a:rPr lang="en-IN" smtClean="0"/>
              <a:t>4</a:t>
            </a:fld>
            <a:endParaRPr lang="en-IN"/>
          </a:p>
        </p:txBody>
      </p:sp>
      <p:sp>
        <p:nvSpPr>
          <p:cNvPr id="4" name="TextBox 3">
            <a:extLst>
              <a:ext uri="{FF2B5EF4-FFF2-40B4-BE49-F238E27FC236}">
                <a16:creationId xmlns:a16="http://schemas.microsoft.com/office/drawing/2014/main" id="{716F28E2-0E44-5F46-F804-8B1C2A8F36C0}"/>
              </a:ext>
            </a:extLst>
          </p:cNvPr>
          <p:cNvSpPr txBox="1"/>
          <p:nvPr/>
        </p:nvSpPr>
        <p:spPr>
          <a:xfrm>
            <a:off x="116839" y="504263"/>
            <a:ext cx="11958319" cy="5565947"/>
          </a:xfrm>
          <a:prstGeom prst="rect">
            <a:avLst/>
          </a:prstGeom>
          <a:noFill/>
        </p:spPr>
        <p:txBody>
          <a:bodyPr wrap="square">
            <a:spAutoFit/>
          </a:bodyPr>
          <a:lstStyle/>
          <a:p>
            <a:pPr>
              <a:lnSpc>
                <a:spcPct val="150000"/>
              </a:lnSpc>
              <a:buNone/>
            </a:pPr>
            <a:r>
              <a:rPr lang="en-US" sz="2400" b="1" dirty="0">
                <a:latin typeface="Times New Roman" panose="02020603050405020304" pitchFamily="18" charset="0"/>
                <a:cs typeface="Times New Roman" panose="02020603050405020304" pitchFamily="18" charset="0"/>
              </a:rPr>
              <a:t>Why SBOM is Important for Containers in CI/CD</a:t>
            </a:r>
          </a:p>
          <a:p>
            <a:pPr marL="742950" lvl="1" indent="-285750" algn="just">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Tracking Components</a:t>
            </a:r>
            <a:r>
              <a:rPr lang="en-US" sz="2400" dirty="0">
                <a:latin typeface="Times New Roman" panose="02020603050405020304" pitchFamily="18" charset="0"/>
                <a:cs typeface="Times New Roman" panose="02020603050405020304" pitchFamily="18" charset="0"/>
              </a:rPr>
              <a:t>: Containers often rely on multiple open-source libraries, services, or packages. An SBOM allows developers to see all these dependencies in one place.</a:t>
            </a:r>
          </a:p>
          <a:p>
            <a:pPr marL="742950" lvl="1" indent="-285750" algn="just">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Security and Vulnerability Management</a:t>
            </a:r>
            <a:r>
              <a:rPr lang="en-US" sz="2400" dirty="0">
                <a:latin typeface="Times New Roman" panose="02020603050405020304" pitchFamily="18" charset="0"/>
                <a:cs typeface="Times New Roman" panose="02020603050405020304" pitchFamily="18" charset="0"/>
              </a:rPr>
              <a:t>: Vulnerabilities in the libraries or tools used inside a container can be a security risk. An SBOM allows teams to quickly track which versions of components are inside the container and alert them if any of those components have known vulnerabilities.</a:t>
            </a:r>
          </a:p>
          <a:p>
            <a:pPr marL="742950" lvl="1" indent="-285750" algn="just">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Audit and Compliance</a:t>
            </a:r>
            <a:r>
              <a:rPr lang="en-US" sz="2400" dirty="0">
                <a:latin typeface="Times New Roman" panose="02020603050405020304" pitchFamily="18" charset="0"/>
                <a:cs typeface="Times New Roman" panose="02020603050405020304" pitchFamily="18" charset="0"/>
              </a:rPr>
              <a:t>: SBOMs provide a traceable record of the components used in a containerized application. This is especially important for industries with strict regulatory or compliance requirements, like finance or healthcare</a:t>
            </a:r>
            <a:r>
              <a:rPr lang="en-US" dirty="0"/>
              <a:t>.</a:t>
            </a:r>
          </a:p>
        </p:txBody>
      </p:sp>
    </p:spTree>
    <p:extLst>
      <p:ext uri="{BB962C8B-B14F-4D97-AF65-F5344CB8AC3E}">
        <p14:creationId xmlns:p14="http://schemas.microsoft.com/office/powerpoint/2010/main" val="5299489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65E3F14-B4D4-50E7-1F7F-D15402108F09}"/>
              </a:ext>
            </a:extLst>
          </p:cNvPr>
          <p:cNvSpPr>
            <a:spLocks noGrp="1"/>
          </p:cNvSpPr>
          <p:nvPr>
            <p:ph type="sldNum" sz="quarter" idx="12"/>
          </p:nvPr>
        </p:nvSpPr>
        <p:spPr/>
        <p:txBody>
          <a:bodyPr/>
          <a:lstStyle/>
          <a:p>
            <a:fld id="{CBABCCC1-BF11-4F37-963E-1BCD5B23FD72}" type="slidenum">
              <a:rPr lang="en-IN" smtClean="0"/>
              <a:t>5</a:t>
            </a:fld>
            <a:endParaRPr lang="en-IN"/>
          </a:p>
        </p:txBody>
      </p:sp>
      <p:sp>
        <p:nvSpPr>
          <p:cNvPr id="4" name="TextBox 3">
            <a:extLst>
              <a:ext uri="{FF2B5EF4-FFF2-40B4-BE49-F238E27FC236}">
                <a16:creationId xmlns:a16="http://schemas.microsoft.com/office/drawing/2014/main" id="{499188BE-2F9B-E6ED-EEF9-79A0F589436E}"/>
              </a:ext>
            </a:extLst>
          </p:cNvPr>
          <p:cNvSpPr txBox="1"/>
          <p:nvPr/>
        </p:nvSpPr>
        <p:spPr>
          <a:xfrm>
            <a:off x="182879" y="1012825"/>
            <a:ext cx="11826240" cy="5011949"/>
          </a:xfrm>
          <a:prstGeom prst="rect">
            <a:avLst/>
          </a:prstGeom>
          <a:noFill/>
        </p:spPr>
        <p:txBody>
          <a:bodyPr wrap="square">
            <a:spAutoFit/>
          </a:bodyPr>
          <a:lstStyle/>
          <a:p>
            <a:pPr>
              <a:lnSpc>
                <a:spcPct val="150000"/>
              </a:lnSpc>
              <a:buNone/>
            </a:pPr>
            <a:r>
              <a:rPr lang="en-US" sz="2400" b="1" dirty="0">
                <a:latin typeface="Times New Roman" panose="02020603050405020304" pitchFamily="18" charset="0"/>
                <a:cs typeface="Times New Roman" panose="02020603050405020304" pitchFamily="18" charset="0"/>
              </a:rPr>
              <a:t>Incorporating SBOM into CI/CD Pipelines</a:t>
            </a:r>
          </a:p>
          <a:p>
            <a:pPr>
              <a:lnSpc>
                <a:spcPct val="150000"/>
              </a:lnSpc>
              <a:buNone/>
            </a:pPr>
            <a:r>
              <a:rPr lang="en-US" sz="2400" dirty="0">
                <a:latin typeface="Times New Roman" panose="02020603050405020304" pitchFamily="18" charset="0"/>
                <a:cs typeface="Times New Roman" panose="02020603050405020304" pitchFamily="18" charset="0"/>
              </a:rPr>
              <a:t>	In a CI/CD pipeline for containers, you can automatically generate and manage SBOMs in several stages:</a:t>
            </a:r>
          </a:p>
          <a:p>
            <a:pPr marL="800100" lvl="1" indent="-342900" algn="just">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Build Stage</a:t>
            </a:r>
            <a:r>
              <a:rPr lang="en-US" sz="2400" dirty="0">
                <a:latin typeface="Times New Roman" panose="02020603050405020304" pitchFamily="18" charset="0"/>
                <a:cs typeface="Times New Roman" panose="02020603050405020304" pitchFamily="18" charset="0"/>
              </a:rPr>
              <a:t>: When you build a container image (using a tool like Docker), generate an SBOM that lists the components included in that image. This can be done by using tools like </a:t>
            </a:r>
            <a:r>
              <a:rPr lang="en-US" sz="2400" b="1" dirty="0" err="1">
                <a:latin typeface="Times New Roman" panose="02020603050405020304" pitchFamily="18" charset="0"/>
                <a:cs typeface="Times New Roman" panose="02020603050405020304" pitchFamily="18" charset="0"/>
              </a:rPr>
              <a:t>Syft</a:t>
            </a:r>
            <a:r>
              <a:rPr lang="en-US" sz="2400" dirty="0">
                <a:latin typeface="Times New Roman" panose="02020603050405020304" pitchFamily="18" charset="0"/>
                <a:cs typeface="Times New Roman" panose="02020603050405020304" pitchFamily="18" charset="0"/>
              </a:rPr>
              <a:t> or </a:t>
            </a:r>
            <a:r>
              <a:rPr lang="en-US" sz="2400" b="1" dirty="0" err="1">
                <a:latin typeface="Times New Roman" panose="02020603050405020304" pitchFamily="18" charset="0"/>
                <a:cs typeface="Times New Roman" panose="02020603050405020304" pitchFamily="18" charset="0"/>
              </a:rPr>
              <a:t>CycloneDX</a:t>
            </a:r>
            <a:r>
              <a:rPr lang="en-US" sz="2400" dirty="0">
                <a:latin typeface="Times New Roman" panose="02020603050405020304" pitchFamily="18" charset="0"/>
                <a:cs typeface="Times New Roman" panose="02020603050405020304" pitchFamily="18" charset="0"/>
              </a:rPr>
              <a:t> to analyze the image and produce an SBOM.</a:t>
            </a:r>
          </a:p>
          <a:p>
            <a:pPr marL="800100" lvl="1" indent="-342900" algn="just">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Test Stage</a:t>
            </a:r>
            <a:r>
              <a:rPr lang="en-US" sz="2400" dirty="0">
                <a:latin typeface="Times New Roman" panose="02020603050405020304" pitchFamily="18" charset="0"/>
                <a:cs typeface="Times New Roman" panose="02020603050405020304" pitchFamily="18" charset="0"/>
              </a:rPr>
              <a:t>: Ensure that your container image doesn’t include vulnerable components by integrating SBOM scanning tools. Tools like </a:t>
            </a:r>
            <a:r>
              <a:rPr lang="en-US" sz="2400" b="1" dirty="0" err="1">
                <a:latin typeface="Times New Roman" panose="02020603050405020304" pitchFamily="18" charset="0"/>
                <a:cs typeface="Times New Roman" panose="02020603050405020304" pitchFamily="18" charset="0"/>
              </a:rPr>
              <a:t>Grype</a:t>
            </a:r>
            <a:r>
              <a:rPr lang="en-US" sz="2400" dirty="0">
                <a:latin typeface="Times New Roman" panose="02020603050405020304" pitchFamily="18" charset="0"/>
                <a:cs typeface="Times New Roman" panose="02020603050405020304" pitchFamily="18" charset="0"/>
              </a:rPr>
              <a:t> (by </a:t>
            </a:r>
            <a:r>
              <a:rPr lang="en-US" sz="2400" dirty="0" err="1">
                <a:latin typeface="Times New Roman" panose="02020603050405020304" pitchFamily="18" charset="0"/>
                <a:cs typeface="Times New Roman" panose="02020603050405020304" pitchFamily="18" charset="0"/>
              </a:rPr>
              <a:t>Anchore</a:t>
            </a:r>
            <a:r>
              <a:rPr lang="en-US" sz="2400" dirty="0">
                <a:latin typeface="Times New Roman" panose="02020603050405020304" pitchFamily="18" charset="0"/>
                <a:cs typeface="Times New Roman" panose="02020603050405020304" pitchFamily="18" charset="0"/>
              </a:rPr>
              <a:t>) or </a:t>
            </a:r>
            <a:r>
              <a:rPr lang="en-US" sz="2400" b="1" dirty="0" err="1">
                <a:latin typeface="Times New Roman" panose="02020603050405020304" pitchFamily="18" charset="0"/>
                <a:cs typeface="Times New Roman" panose="02020603050405020304" pitchFamily="18" charset="0"/>
              </a:rPr>
              <a:t>Trivy</a:t>
            </a:r>
            <a:r>
              <a:rPr lang="en-US" sz="2400" dirty="0">
                <a:latin typeface="Times New Roman" panose="02020603050405020304" pitchFamily="18" charset="0"/>
                <a:cs typeface="Times New Roman" panose="02020603050405020304" pitchFamily="18" charset="0"/>
              </a:rPr>
              <a:t> can scan your container images against known vulnerabilities and reference them in the SBOM.</a:t>
            </a:r>
          </a:p>
        </p:txBody>
      </p:sp>
    </p:spTree>
    <p:extLst>
      <p:ext uri="{BB962C8B-B14F-4D97-AF65-F5344CB8AC3E}">
        <p14:creationId xmlns:p14="http://schemas.microsoft.com/office/powerpoint/2010/main" val="40552635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900ED57-E7E3-2F75-0038-B251A952259B}"/>
              </a:ext>
            </a:extLst>
          </p:cNvPr>
          <p:cNvSpPr>
            <a:spLocks noGrp="1"/>
          </p:cNvSpPr>
          <p:nvPr>
            <p:ph type="sldNum" sz="quarter" idx="12"/>
          </p:nvPr>
        </p:nvSpPr>
        <p:spPr/>
        <p:txBody>
          <a:bodyPr/>
          <a:lstStyle/>
          <a:p>
            <a:fld id="{CBABCCC1-BF11-4F37-963E-1BCD5B23FD72}" type="slidenum">
              <a:rPr lang="en-IN" smtClean="0"/>
              <a:t>6</a:t>
            </a:fld>
            <a:endParaRPr lang="en-IN"/>
          </a:p>
        </p:txBody>
      </p:sp>
      <p:sp>
        <p:nvSpPr>
          <p:cNvPr id="4" name="TextBox 3">
            <a:extLst>
              <a:ext uri="{FF2B5EF4-FFF2-40B4-BE49-F238E27FC236}">
                <a16:creationId xmlns:a16="http://schemas.microsoft.com/office/drawing/2014/main" id="{E8ABD3C1-B142-F627-24A1-ED62FB482506}"/>
              </a:ext>
            </a:extLst>
          </p:cNvPr>
          <p:cNvSpPr txBox="1"/>
          <p:nvPr/>
        </p:nvSpPr>
        <p:spPr>
          <a:xfrm>
            <a:off x="599440" y="1232099"/>
            <a:ext cx="10871200" cy="3903954"/>
          </a:xfrm>
          <a:prstGeom prst="rect">
            <a:avLst/>
          </a:prstGeom>
          <a:noFill/>
        </p:spPr>
        <p:txBody>
          <a:bodyPr wrap="square">
            <a:spAutoFit/>
          </a:bodyPr>
          <a:lstStyle/>
          <a:p>
            <a:pPr marL="800100" lvl="1" indent="-342900" algn="just">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Release/Deploy Stage</a:t>
            </a:r>
            <a:r>
              <a:rPr lang="en-US" sz="2400" dirty="0">
                <a:latin typeface="Times New Roman" panose="02020603050405020304" pitchFamily="18" charset="0"/>
                <a:cs typeface="Times New Roman" panose="02020603050405020304" pitchFamily="18" charset="0"/>
              </a:rPr>
              <a:t>: Once the container is ready for deployment, the SBOM can be bundled along with the container image. This ensures that anyone using the image (like in production) has visibility into the components and dependencies it contains.</a:t>
            </a:r>
          </a:p>
          <a:p>
            <a:pPr marL="800100" lvl="1" indent="-342900" algn="just">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Security Alerts</a:t>
            </a:r>
            <a:r>
              <a:rPr lang="en-US" sz="2400" dirty="0">
                <a:latin typeface="Times New Roman" panose="02020603050405020304" pitchFamily="18" charset="0"/>
                <a:cs typeface="Times New Roman" panose="02020603050405020304" pitchFamily="18" charset="0"/>
              </a:rPr>
              <a:t>: Once an SBOM is created, tools can track vulnerabilities and alert you whenever one of the libraries used in the container has a new security issue. This ensures fast action to mitigate risks.</a:t>
            </a:r>
          </a:p>
        </p:txBody>
      </p:sp>
    </p:spTree>
    <p:extLst>
      <p:ext uri="{BB962C8B-B14F-4D97-AF65-F5344CB8AC3E}">
        <p14:creationId xmlns:p14="http://schemas.microsoft.com/office/powerpoint/2010/main" val="24467430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D45A2A1-40C2-6480-385A-BA4EDF1DED6D}"/>
              </a:ext>
            </a:extLst>
          </p:cNvPr>
          <p:cNvSpPr>
            <a:spLocks noGrp="1"/>
          </p:cNvSpPr>
          <p:nvPr>
            <p:ph type="sldNum" sz="quarter" idx="12"/>
          </p:nvPr>
        </p:nvSpPr>
        <p:spPr/>
        <p:txBody>
          <a:bodyPr/>
          <a:lstStyle/>
          <a:p>
            <a:fld id="{CBABCCC1-BF11-4F37-963E-1BCD5B23FD72}" type="slidenum">
              <a:rPr lang="en-IN" smtClean="0"/>
              <a:t>7</a:t>
            </a:fld>
            <a:endParaRPr lang="en-IN"/>
          </a:p>
        </p:txBody>
      </p:sp>
      <p:sp>
        <p:nvSpPr>
          <p:cNvPr id="4" name="TextBox 3">
            <a:extLst>
              <a:ext uri="{FF2B5EF4-FFF2-40B4-BE49-F238E27FC236}">
                <a16:creationId xmlns:a16="http://schemas.microsoft.com/office/drawing/2014/main" id="{FEAC5FDB-1C3A-84B5-C257-EA63ADB88D12}"/>
              </a:ext>
            </a:extLst>
          </p:cNvPr>
          <p:cNvSpPr txBox="1"/>
          <p:nvPr/>
        </p:nvSpPr>
        <p:spPr>
          <a:xfrm>
            <a:off x="360679" y="481320"/>
            <a:ext cx="11470640" cy="5565947"/>
          </a:xfrm>
          <a:prstGeom prst="rect">
            <a:avLst/>
          </a:prstGeom>
          <a:noFill/>
        </p:spPr>
        <p:txBody>
          <a:bodyPr wrap="square">
            <a:spAutoFit/>
          </a:bodyPr>
          <a:lstStyle/>
          <a:p>
            <a:pPr>
              <a:lnSpc>
                <a:spcPct val="150000"/>
              </a:lnSpc>
              <a:buNone/>
            </a:pPr>
            <a:r>
              <a:rPr lang="en-US" sz="2400" b="1" dirty="0">
                <a:latin typeface="Times New Roman" panose="02020603050405020304" pitchFamily="18" charset="0"/>
                <a:cs typeface="Times New Roman" panose="02020603050405020304" pitchFamily="18" charset="0"/>
              </a:rPr>
              <a:t>Tools for SBOM in CI/CD for Containers</a:t>
            </a:r>
          </a:p>
          <a:p>
            <a:pPr algn="just">
              <a:lnSpc>
                <a:spcPct val="150000"/>
              </a:lnSpc>
              <a:buNone/>
            </a:pPr>
            <a:r>
              <a:rPr lang="en-US" sz="2400" dirty="0">
                <a:latin typeface="Times New Roman" panose="02020603050405020304" pitchFamily="18" charset="0"/>
                <a:cs typeface="Times New Roman" panose="02020603050405020304" pitchFamily="18" charset="0"/>
              </a:rPr>
              <a:t>Several tools and standards have emerged to help generate and manage SBOMs in containerized environments:</a:t>
            </a:r>
          </a:p>
          <a:p>
            <a:pPr marL="742950" lvl="1" indent="-285750" algn="just">
              <a:lnSpc>
                <a:spcPct val="150000"/>
              </a:lnSpc>
              <a:buFont typeface="Arial" panose="020B0604020202020204" pitchFamily="34" charset="0"/>
              <a:buChar char="•"/>
            </a:pPr>
            <a:r>
              <a:rPr lang="en-US" sz="2400" b="1" dirty="0" err="1">
                <a:latin typeface="Times New Roman" panose="02020603050405020304" pitchFamily="18" charset="0"/>
                <a:cs typeface="Times New Roman" panose="02020603050405020304" pitchFamily="18" charset="0"/>
              </a:rPr>
              <a:t>Syft</a:t>
            </a:r>
            <a:r>
              <a:rPr lang="en-US" sz="2400" dirty="0">
                <a:latin typeface="Times New Roman" panose="02020603050405020304" pitchFamily="18" charset="0"/>
                <a:cs typeface="Times New Roman" panose="02020603050405020304" pitchFamily="18" charset="0"/>
              </a:rPr>
              <a:t>: A tool to generate an SBOM for container images, file systems, or directories.</a:t>
            </a:r>
          </a:p>
          <a:p>
            <a:pPr marL="742950" lvl="1" indent="-285750" algn="just">
              <a:lnSpc>
                <a:spcPct val="150000"/>
              </a:lnSpc>
              <a:buFont typeface="Arial" panose="020B0604020202020204" pitchFamily="34" charset="0"/>
              <a:buChar char="•"/>
            </a:pPr>
            <a:r>
              <a:rPr lang="en-US" sz="2400" b="1" dirty="0" err="1">
                <a:latin typeface="Times New Roman" panose="02020603050405020304" pitchFamily="18" charset="0"/>
                <a:cs typeface="Times New Roman" panose="02020603050405020304" pitchFamily="18" charset="0"/>
              </a:rPr>
              <a:t>CycloneDX</a:t>
            </a:r>
            <a:r>
              <a:rPr lang="en-US" sz="2400" dirty="0">
                <a:latin typeface="Times New Roman" panose="02020603050405020304" pitchFamily="18" charset="0"/>
                <a:cs typeface="Times New Roman" panose="02020603050405020304" pitchFamily="18" charset="0"/>
              </a:rPr>
              <a:t>: A lightweight SBOM standard for application security, often used in container environments.</a:t>
            </a:r>
          </a:p>
          <a:p>
            <a:pPr marL="742950" lvl="1" indent="-285750" algn="just">
              <a:lnSpc>
                <a:spcPct val="150000"/>
              </a:lnSpc>
              <a:buFont typeface="Arial" panose="020B0604020202020204" pitchFamily="34" charset="0"/>
              <a:buChar char="•"/>
            </a:pPr>
            <a:r>
              <a:rPr lang="en-US" sz="2400" b="1" dirty="0" err="1">
                <a:latin typeface="Times New Roman" panose="02020603050405020304" pitchFamily="18" charset="0"/>
                <a:cs typeface="Times New Roman" panose="02020603050405020304" pitchFamily="18" charset="0"/>
              </a:rPr>
              <a:t>Trivy</a:t>
            </a:r>
            <a:r>
              <a:rPr lang="en-US" sz="2400" dirty="0">
                <a:latin typeface="Times New Roman" panose="02020603050405020304" pitchFamily="18" charset="0"/>
                <a:cs typeface="Times New Roman" panose="02020603050405020304" pitchFamily="18" charset="0"/>
              </a:rPr>
              <a:t>: A vulnerability scanner for containers, which also generates an SBOM to track dependencies and potential security issues.</a:t>
            </a:r>
          </a:p>
          <a:p>
            <a:pPr marL="742950" lvl="1" indent="-285750" algn="just">
              <a:lnSpc>
                <a:spcPct val="150000"/>
              </a:lnSpc>
              <a:buFont typeface="Arial" panose="020B0604020202020204" pitchFamily="34" charset="0"/>
              <a:buChar char="•"/>
            </a:pPr>
            <a:r>
              <a:rPr lang="en-US" sz="2400" b="1" dirty="0" err="1">
                <a:latin typeface="Times New Roman" panose="02020603050405020304" pitchFamily="18" charset="0"/>
                <a:cs typeface="Times New Roman" panose="02020603050405020304" pitchFamily="18" charset="0"/>
              </a:rPr>
              <a:t>Grype</a:t>
            </a:r>
            <a:r>
              <a:rPr lang="en-US" sz="2400" dirty="0">
                <a:latin typeface="Times New Roman" panose="02020603050405020304" pitchFamily="18" charset="0"/>
                <a:cs typeface="Times New Roman" panose="02020603050405020304" pitchFamily="18" charset="0"/>
              </a:rPr>
              <a:t>: A vulnerability scanner that can integrate with CI/CD pipelines to scan container images based on their SBOM.</a:t>
            </a:r>
          </a:p>
        </p:txBody>
      </p:sp>
    </p:spTree>
    <p:extLst>
      <p:ext uri="{BB962C8B-B14F-4D97-AF65-F5344CB8AC3E}">
        <p14:creationId xmlns:p14="http://schemas.microsoft.com/office/powerpoint/2010/main" val="4805212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666013D-B18D-B3A0-C2C2-7C7EF011770E}"/>
              </a:ext>
            </a:extLst>
          </p:cNvPr>
          <p:cNvSpPr>
            <a:spLocks noGrp="1"/>
          </p:cNvSpPr>
          <p:nvPr>
            <p:ph type="sldNum" sz="quarter" idx="12"/>
          </p:nvPr>
        </p:nvSpPr>
        <p:spPr/>
        <p:txBody>
          <a:bodyPr/>
          <a:lstStyle/>
          <a:p>
            <a:fld id="{CBABCCC1-BF11-4F37-963E-1BCD5B23FD72}" type="slidenum">
              <a:rPr lang="en-IN" smtClean="0"/>
              <a:t>8</a:t>
            </a:fld>
            <a:endParaRPr lang="en-IN"/>
          </a:p>
        </p:txBody>
      </p:sp>
      <p:sp>
        <p:nvSpPr>
          <p:cNvPr id="4" name="TextBox 3">
            <a:extLst>
              <a:ext uri="{FF2B5EF4-FFF2-40B4-BE49-F238E27FC236}">
                <a16:creationId xmlns:a16="http://schemas.microsoft.com/office/drawing/2014/main" id="{87F43C6C-0098-316B-B577-19E76DA4AC73}"/>
              </a:ext>
            </a:extLst>
          </p:cNvPr>
          <p:cNvSpPr txBox="1"/>
          <p:nvPr/>
        </p:nvSpPr>
        <p:spPr>
          <a:xfrm>
            <a:off x="243840" y="321995"/>
            <a:ext cx="11663680" cy="6955750"/>
          </a:xfrm>
          <a:prstGeom prst="rect">
            <a:avLst/>
          </a:prstGeom>
          <a:noFill/>
        </p:spPr>
        <p:txBody>
          <a:bodyPr wrap="square">
            <a:spAutoFit/>
          </a:bodyPr>
          <a:lstStyle/>
          <a:p>
            <a:pPr algn="just">
              <a:spcBef>
                <a:spcPts val="600"/>
              </a:spcBef>
              <a:spcAft>
                <a:spcPts val="600"/>
              </a:spcAft>
            </a:pPr>
            <a:r>
              <a:rPr lang="en-US" sz="2400" b="1" dirty="0">
                <a:latin typeface="Times New Roman" panose="02020603050405020304" pitchFamily="18" charset="0"/>
                <a:cs typeface="Times New Roman" panose="02020603050405020304" pitchFamily="18" charset="0"/>
              </a:rPr>
              <a:t>Steps, you ensure that your Docker images are secure and vulnerabilities are addressed before deployment.</a:t>
            </a:r>
          </a:p>
          <a:p>
            <a:pPr algn="just">
              <a:spcBef>
                <a:spcPts val="600"/>
              </a:spcBef>
              <a:spcAft>
                <a:spcPts val="600"/>
              </a:spcAft>
            </a:pPr>
            <a:r>
              <a:rPr lang="en-US" sz="2400" b="1" dirty="0">
                <a:latin typeface="Times New Roman" panose="02020603050405020304" pitchFamily="18" charset="0"/>
                <a:cs typeface="Times New Roman" panose="02020603050405020304" pitchFamily="18" charset="0"/>
              </a:rPr>
              <a:t>Procedure:</a:t>
            </a:r>
          </a:p>
          <a:p>
            <a:pPr marL="914400" lvl="1" indent="-457200" algn="just" defTabSz="914400" eaLnBrk="0" fontAlgn="base" hangingPunct="0">
              <a:spcBef>
                <a:spcPts val="600"/>
              </a:spcBef>
              <a:spcAft>
                <a:spcPts val="600"/>
              </a:spcAft>
              <a:buFont typeface="+mj-lt"/>
              <a:buAutoNum type="arabicPeriod"/>
            </a:pPr>
            <a:r>
              <a:rPr lang="en-US" altLang="en-US" sz="2400" b="1" dirty="0">
                <a:latin typeface="Times New Roman" panose="02020603050405020304" pitchFamily="18" charset="0"/>
                <a:cs typeface="Times New Roman" panose="02020603050405020304" pitchFamily="18" charset="0"/>
              </a:rPr>
              <a:t>Install </a:t>
            </a:r>
            <a:r>
              <a:rPr lang="en-US" altLang="en-US" sz="2400" b="1" dirty="0" err="1">
                <a:latin typeface="Times New Roman" panose="02020603050405020304" pitchFamily="18" charset="0"/>
                <a:cs typeface="Times New Roman" panose="02020603050405020304" pitchFamily="18" charset="0"/>
              </a:rPr>
              <a:t>Syft</a:t>
            </a:r>
            <a:r>
              <a:rPr lang="en-US" altLang="en-US" sz="2400" dirty="0">
                <a:latin typeface="Times New Roman" panose="02020603050405020304" pitchFamily="18" charset="0"/>
                <a:cs typeface="Times New Roman" panose="02020603050405020304" pitchFamily="18" charset="0"/>
              </a:rPr>
              <a:t> on Windows (download the .zip release from GitHub, extract, and add it to your PATH).</a:t>
            </a:r>
          </a:p>
          <a:p>
            <a:pPr marL="914400" lvl="1" indent="-457200" algn="just" defTabSz="914400" eaLnBrk="0" fontAlgn="base" hangingPunct="0">
              <a:spcBef>
                <a:spcPts val="600"/>
              </a:spcBef>
              <a:spcAft>
                <a:spcPts val="600"/>
              </a:spcAft>
              <a:buFont typeface="+mj-lt"/>
              <a:buAutoNum type="arabicPeriod"/>
            </a:pPr>
            <a:r>
              <a:rPr lang="en-US" altLang="en-US" sz="2400" b="1" dirty="0">
                <a:latin typeface="Times New Roman" panose="02020603050405020304" pitchFamily="18" charset="0"/>
                <a:cs typeface="Times New Roman" panose="02020603050405020304" pitchFamily="18" charset="0"/>
              </a:rPr>
              <a:t>Build the Docker Image</a:t>
            </a:r>
            <a:r>
              <a:rPr lang="en-US" altLang="en-US" sz="2400" dirty="0">
                <a:latin typeface="Times New Roman" panose="02020603050405020304" pitchFamily="18" charset="0"/>
                <a:cs typeface="Times New Roman" panose="02020603050405020304" pitchFamily="18" charset="0"/>
              </a:rPr>
              <a:t> using the docker build command in your CI pipeline.</a:t>
            </a:r>
          </a:p>
          <a:p>
            <a:pPr marL="914400" lvl="1" indent="-457200" algn="just" defTabSz="914400" eaLnBrk="0" fontAlgn="base" hangingPunct="0">
              <a:spcBef>
                <a:spcPts val="600"/>
              </a:spcBef>
              <a:spcAft>
                <a:spcPts val="600"/>
              </a:spcAft>
              <a:buFont typeface="+mj-lt"/>
              <a:buAutoNum type="arabicPeriod"/>
            </a:pPr>
            <a:r>
              <a:rPr lang="en-US" altLang="en-US" sz="2400" b="1" dirty="0">
                <a:latin typeface="Times New Roman" panose="02020603050405020304" pitchFamily="18" charset="0"/>
                <a:cs typeface="Times New Roman" panose="02020603050405020304" pitchFamily="18" charset="0"/>
              </a:rPr>
              <a:t>Generate SBOM</a:t>
            </a:r>
            <a:r>
              <a:rPr lang="en-US" altLang="en-US" sz="2400" dirty="0">
                <a:latin typeface="Times New Roman" panose="02020603050405020304" pitchFamily="18" charset="0"/>
                <a:cs typeface="Times New Roman" panose="02020603050405020304" pitchFamily="18" charset="0"/>
              </a:rPr>
              <a:t> using </a:t>
            </a:r>
            <a:r>
              <a:rPr lang="en-US" altLang="en-US" sz="2400" dirty="0" err="1">
                <a:latin typeface="Times New Roman" panose="02020603050405020304" pitchFamily="18" charset="0"/>
                <a:cs typeface="Times New Roman" panose="02020603050405020304" pitchFamily="18" charset="0"/>
              </a:rPr>
              <a:t>Syft</a:t>
            </a:r>
            <a:r>
              <a:rPr lang="en-US" altLang="en-US" sz="2400" dirty="0">
                <a:latin typeface="Times New Roman" panose="02020603050405020304" pitchFamily="18" charset="0"/>
                <a:cs typeface="Times New Roman" panose="02020603050405020304" pitchFamily="18" charset="0"/>
              </a:rPr>
              <a:t>:</a:t>
            </a:r>
          </a:p>
          <a:p>
            <a:pPr lvl="1" algn="just" defTabSz="914400" eaLnBrk="0" fontAlgn="base" hangingPunct="0">
              <a:spcBef>
                <a:spcPts val="600"/>
              </a:spcBef>
              <a:spcAft>
                <a:spcPts val="600"/>
              </a:spcAft>
            </a:pPr>
            <a:r>
              <a:rPr lang="en-US" altLang="en-US" sz="2400" dirty="0">
                <a:latin typeface="Times New Roman" panose="02020603050405020304" pitchFamily="18" charset="0"/>
                <a:cs typeface="Times New Roman" panose="02020603050405020304" pitchFamily="18" charset="0"/>
              </a:rPr>
              <a:t>       command-</a:t>
            </a:r>
          </a:p>
          <a:p>
            <a:pPr lvl="1" algn="just" defTabSz="914400" eaLnBrk="0" fontAlgn="base" hangingPunct="0">
              <a:spcBef>
                <a:spcPts val="600"/>
              </a:spcBef>
              <a:spcAft>
                <a:spcPts val="600"/>
              </a:spcAft>
            </a:pPr>
            <a:r>
              <a:rPr lang="en-US" altLang="en-US" sz="2400" dirty="0">
                <a:latin typeface="Times New Roman" panose="02020603050405020304" pitchFamily="18" charset="0"/>
                <a:cs typeface="Times New Roman" panose="02020603050405020304" pitchFamily="18" charset="0"/>
              </a:rPr>
              <a:t>		</a:t>
            </a:r>
            <a:r>
              <a:rPr lang="en-US" altLang="en-US" sz="2400" b="1" dirty="0" err="1">
                <a:solidFill>
                  <a:srgbClr val="FF0000"/>
                </a:solidFill>
                <a:latin typeface="Times New Roman" panose="02020603050405020304" pitchFamily="18" charset="0"/>
                <a:cs typeface="Times New Roman" panose="02020603050405020304" pitchFamily="18" charset="0"/>
              </a:rPr>
              <a:t>syft</a:t>
            </a:r>
            <a:r>
              <a:rPr lang="en-US" altLang="en-US" sz="2400" b="1" dirty="0">
                <a:solidFill>
                  <a:srgbClr val="FF0000"/>
                </a:solidFill>
                <a:latin typeface="Times New Roman" panose="02020603050405020304" pitchFamily="18" charset="0"/>
                <a:cs typeface="Times New Roman" panose="02020603050405020304" pitchFamily="18" charset="0"/>
              </a:rPr>
              <a:t> my-node-app -o </a:t>
            </a:r>
            <a:r>
              <a:rPr lang="en-US" altLang="en-US" sz="2400" b="1" dirty="0" err="1">
                <a:solidFill>
                  <a:srgbClr val="FF0000"/>
                </a:solidFill>
                <a:latin typeface="Times New Roman" panose="02020603050405020304" pitchFamily="18" charset="0"/>
                <a:cs typeface="Times New Roman" panose="02020603050405020304" pitchFamily="18" charset="0"/>
              </a:rPr>
              <a:t>json</a:t>
            </a:r>
            <a:r>
              <a:rPr lang="en-US" altLang="en-US" sz="2400" b="1" dirty="0">
                <a:solidFill>
                  <a:srgbClr val="FF0000"/>
                </a:solidFill>
                <a:latin typeface="Times New Roman" panose="02020603050405020304" pitchFamily="18" charset="0"/>
                <a:cs typeface="Times New Roman" panose="02020603050405020304" pitchFamily="18" charset="0"/>
              </a:rPr>
              <a:t> &gt; </a:t>
            </a:r>
            <a:r>
              <a:rPr lang="en-US" altLang="en-US" sz="2400" b="1" dirty="0" err="1">
                <a:solidFill>
                  <a:srgbClr val="FF0000"/>
                </a:solidFill>
                <a:latin typeface="Times New Roman" panose="02020603050405020304" pitchFamily="18" charset="0"/>
                <a:cs typeface="Times New Roman" panose="02020603050405020304" pitchFamily="18" charset="0"/>
              </a:rPr>
              <a:t>sbom.json</a:t>
            </a:r>
            <a:r>
              <a:rPr lang="en-US" altLang="en-US" sz="2400" b="1" dirty="0">
                <a:solidFill>
                  <a:srgbClr val="FF0000"/>
                </a:solidFill>
                <a:latin typeface="Times New Roman" panose="02020603050405020304" pitchFamily="18" charset="0"/>
                <a:cs typeface="Times New Roman" panose="02020603050405020304" pitchFamily="18" charset="0"/>
              </a:rPr>
              <a:t> </a:t>
            </a:r>
          </a:p>
          <a:p>
            <a:pPr lvl="1" algn="just" defTabSz="914400" eaLnBrk="0" fontAlgn="base" hangingPunct="0">
              <a:spcBef>
                <a:spcPts val="600"/>
              </a:spcBef>
              <a:spcAft>
                <a:spcPts val="600"/>
              </a:spcAft>
            </a:pPr>
            <a:r>
              <a:rPr lang="en-US" altLang="en-US" sz="2400" b="1" dirty="0">
                <a:latin typeface="Times New Roman" panose="02020603050405020304" pitchFamily="18" charset="0"/>
                <a:cs typeface="Times New Roman" panose="02020603050405020304" pitchFamily="18" charset="0"/>
              </a:rPr>
              <a:t>4. Install </a:t>
            </a:r>
            <a:r>
              <a:rPr lang="en-US" altLang="en-US" sz="2400" b="1" dirty="0" err="1">
                <a:latin typeface="Times New Roman" panose="02020603050405020304" pitchFamily="18" charset="0"/>
                <a:cs typeface="Times New Roman" panose="02020603050405020304" pitchFamily="18" charset="0"/>
              </a:rPr>
              <a:t>Grype</a:t>
            </a:r>
            <a:r>
              <a:rPr lang="en-US" altLang="en-US" sz="2400" dirty="0">
                <a:latin typeface="Times New Roman" panose="02020603050405020304" pitchFamily="18" charset="0"/>
                <a:cs typeface="Times New Roman" panose="02020603050405020304" pitchFamily="18" charset="0"/>
              </a:rPr>
              <a:t> on Windows and use it to scan the generated SBOM for vulnerabilities:</a:t>
            </a:r>
          </a:p>
          <a:p>
            <a:pPr lvl="1" algn="just" defTabSz="914400" eaLnBrk="0" fontAlgn="base" hangingPunct="0">
              <a:spcBef>
                <a:spcPts val="600"/>
              </a:spcBef>
              <a:spcAft>
                <a:spcPts val="600"/>
              </a:spcAft>
            </a:pPr>
            <a:r>
              <a:rPr lang="en-US" altLang="en-US" sz="2400" dirty="0">
                <a:latin typeface="Times New Roman" panose="02020603050405020304" pitchFamily="18" charset="0"/>
                <a:cs typeface="Times New Roman" panose="02020603050405020304" pitchFamily="18" charset="0"/>
              </a:rPr>
              <a:t>      command-</a:t>
            </a:r>
          </a:p>
          <a:p>
            <a:pPr lvl="1" algn="just" defTabSz="914400" eaLnBrk="0" fontAlgn="base" hangingPunct="0">
              <a:spcBef>
                <a:spcPts val="600"/>
              </a:spcBef>
              <a:spcAft>
                <a:spcPts val="600"/>
              </a:spcAft>
            </a:pPr>
            <a:r>
              <a:rPr lang="en-US" altLang="en-US" sz="2400" dirty="0">
                <a:latin typeface="Times New Roman" panose="02020603050405020304" pitchFamily="18" charset="0"/>
                <a:cs typeface="Times New Roman" panose="02020603050405020304" pitchFamily="18" charset="0"/>
              </a:rPr>
              <a:t>		</a:t>
            </a:r>
            <a:r>
              <a:rPr lang="en-US" altLang="en-US" sz="2400" b="1" dirty="0" err="1">
                <a:solidFill>
                  <a:srgbClr val="FF0000"/>
                </a:solidFill>
                <a:latin typeface="Times New Roman" panose="02020603050405020304" pitchFamily="18" charset="0"/>
                <a:cs typeface="Times New Roman" panose="02020603050405020304" pitchFamily="18" charset="0"/>
              </a:rPr>
              <a:t>grype</a:t>
            </a:r>
            <a:r>
              <a:rPr lang="en-US" altLang="en-US" sz="2400" b="1" dirty="0">
                <a:solidFill>
                  <a:srgbClr val="FF0000"/>
                </a:solidFill>
                <a:latin typeface="Times New Roman" panose="02020603050405020304" pitchFamily="18" charset="0"/>
                <a:cs typeface="Times New Roman" panose="02020603050405020304" pitchFamily="18" charset="0"/>
              </a:rPr>
              <a:t> </a:t>
            </a:r>
            <a:r>
              <a:rPr lang="en-US" altLang="en-US" sz="2400" b="1" dirty="0" err="1">
                <a:solidFill>
                  <a:srgbClr val="FF0000"/>
                </a:solidFill>
                <a:latin typeface="Times New Roman" panose="02020603050405020304" pitchFamily="18" charset="0"/>
                <a:cs typeface="Times New Roman" panose="02020603050405020304" pitchFamily="18" charset="0"/>
              </a:rPr>
              <a:t>sbom:sbom.json</a:t>
            </a:r>
            <a:endParaRPr lang="en-US" altLang="en-US" sz="2400" b="1" dirty="0">
              <a:solidFill>
                <a:srgbClr val="FF0000"/>
              </a:solidFill>
              <a:latin typeface="Times New Roman" panose="02020603050405020304" pitchFamily="18" charset="0"/>
              <a:cs typeface="Times New Roman" panose="02020603050405020304" pitchFamily="18" charset="0"/>
            </a:endParaRPr>
          </a:p>
          <a:p>
            <a:pPr algn="just">
              <a:spcBef>
                <a:spcPts val="600"/>
              </a:spcBef>
              <a:spcAft>
                <a:spcPts val="600"/>
              </a:spcAft>
            </a:pPr>
            <a:endParaRPr lang="en-US" sz="2400" b="1" dirty="0">
              <a:latin typeface="Times New Roman" panose="02020603050405020304" pitchFamily="18" charset="0"/>
              <a:cs typeface="Times New Roman" panose="02020603050405020304" pitchFamily="18" charset="0"/>
            </a:endParaRPr>
          </a:p>
          <a:p>
            <a:pPr algn="just">
              <a:spcBef>
                <a:spcPts val="600"/>
              </a:spcBef>
              <a:spcAft>
                <a:spcPts val="600"/>
              </a:spcAft>
            </a:pP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878987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E792BE84-3448-2348-B352-CD5BC083E5FD}"/>
              </a:ext>
            </a:extLst>
          </p:cNvPr>
          <p:cNvSpPr/>
          <p:nvPr/>
        </p:nvSpPr>
        <p:spPr>
          <a:xfrm>
            <a:off x="2524146" y="1595121"/>
            <a:ext cx="7920111" cy="3158754"/>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2400" b="1" dirty="0">
                <a:latin typeface="Poppins" pitchFamily="2" charset="77"/>
                <a:cs typeface="Poppins" pitchFamily="2" charset="77"/>
              </a:rPr>
              <a:t>THANK YOU</a:t>
            </a: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2400" b="1" dirty="0">
                <a:latin typeface="Poppins" pitchFamily="2" charset="77"/>
                <a:cs typeface="Poppins" pitchFamily="2" charset="77"/>
              </a:rPr>
              <a:t>Team –</a:t>
            </a:r>
            <a:r>
              <a:rPr lang="en-US" sz="2800" b="1" dirty="0">
                <a:solidFill>
                  <a:schemeClr val="bg1"/>
                </a:solidFill>
                <a:latin typeface="Times New Roman" panose="02020603050405020304" pitchFamily="18" charset="0"/>
                <a:cs typeface="Times New Roman" panose="02020603050405020304" pitchFamily="18" charset="0"/>
              </a:rPr>
              <a:t>Foundations Of Cloud-native Computing &amp; </a:t>
            </a:r>
            <a:r>
              <a:rPr lang="en-US" sz="2800" b="1" dirty="0" err="1">
                <a:solidFill>
                  <a:schemeClr val="bg1"/>
                </a:solidFill>
                <a:latin typeface="Times New Roman" panose="02020603050405020304" pitchFamily="18" charset="0"/>
                <a:cs typeface="Times New Roman" panose="02020603050405020304" pitchFamily="18" charset="0"/>
              </a:rPr>
              <a:t>Devops</a:t>
            </a:r>
            <a:r>
              <a:rPr lang="en-US" sz="2800" dirty="0">
                <a:solidFill>
                  <a:schemeClr val="bg1"/>
                </a:solidFill>
              </a:rPr>
              <a:t>	</a:t>
            </a: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2"/>
          <a:srcRect/>
          <a:stretch>
            <a:fillRect/>
          </a:stretch>
        </p:blipFill>
        <p:spPr bwMode="auto">
          <a:xfrm>
            <a:off x="5392614" y="2235201"/>
            <a:ext cx="3235570" cy="1083212"/>
          </a:xfrm>
          <a:prstGeom prst="rect">
            <a:avLst/>
          </a:prstGeom>
          <a:noFill/>
        </p:spPr>
      </p:pic>
    </p:spTree>
    <p:extLst>
      <p:ext uri="{BB962C8B-B14F-4D97-AF65-F5344CB8AC3E}">
        <p14:creationId xmlns:p14="http://schemas.microsoft.com/office/powerpoint/2010/main" val="3591384277"/>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Session-2</Template>
  <TotalTime>839</TotalTime>
  <Words>695</Words>
  <Application>Microsoft Office PowerPoint</Application>
  <PresentationFormat>Widescreen</PresentationFormat>
  <Paragraphs>68</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Calibri</vt:lpstr>
      <vt:lpstr>Gill Sans MT</vt:lpstr>
      <vt:lpstr>Poppins</vt:lpstr>
      <vt:lpstr>Times New Roman</vt:lpstr>
      <vt:lpstr>Gallery</vt:lpstr>
      <vt:lpstr>Department of CSIT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Abhishek Guru</dc:creator>
  <cp:lastModifiedBy>Lavanya Susanna</cp:lastModifiedBy>
  <cp:revision>111</cp:revision>
  <dcterms:created xsi:type="dcterms:W3CDTF">2023-05-02T16:26:00Z</dcterms:created>
  <dcterms:modified xsi:type="dcterms:W3CDTF">2026-01-30T06:04:44Z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9D92E8B3CCDD4F159E81FC5DAC5EB7AA_13</vt:lpwstr>
  </property>
  <property fmtid="{D5CDD505-2E9C-101B-9397-08002B2CF9AE}" pid="3" name="KSOProductBuildVer">
    <vt:lpwstr>1033-12.2.0.17119</vt:lpwstr>
  </property>
</Properties>
</file>